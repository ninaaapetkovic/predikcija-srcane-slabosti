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60" r:id="rId5"/>
    <p:sldId id="262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7" r:id="rId19"/>
    <p:sldId id="278" r:id="rId20"/>
    <p:sldId id="279" r:id="rId21"/>
    <p:sldId id="280" r:id="rId22"/>
    <p:sldId id="282" r:id="rId23"/>
    <p:sldId id="284" r:id="rId24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AD8CED-F182-407A-9841-3B0E9A16EB5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66717-CE29-416E-93ED-DADC2F2EB8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451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66717-CE29-416E-93ED-DADC2F2EB86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492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66717-CE29-416E-93ED-DADC2F2EB86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556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66717-CE29-416E-93ED-DADC2F2EB86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577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 12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1628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extBox 14"/>
          <p:cNvSpPr txBox="1"/>
          <p:nvPr/>
        </p:nvSpPr>
        <p:spPr>
          <a:xfrm>
            <a:off x="548640" y="278892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2400" b="1" dirty="0">
                <a:solidFill>
                  <a:srgbClr val="FFFFFF"/>
                </a:solidFill>
                <a:latin typeface="Calibri"/>
                <a:cs typeface="Calibri"/>
              </a:rPr>
              <a:t>Predikcija srčane slabosti primenom metoda mašinskog učenja</a:t>
            </a:r>
          </a:p>
        </p:txBody>
      </p:sp>
      <p:sp>
        <p:nvSpPr>
          <p:cNvPr id="15" name="Rect 16"/>
          <p:cNvSpPr/>
          <p:nvPr/>
        </p:nvSpPr>
        <p:spPr>
          <a:xfrm>
            <a:off x="548640" y="3520440"/>
            <a:ext cx="1645920" cy="27432"/>
          </a:xfrm>
          <a:prstGeom prst="rect">
            <a:avLst/>
          </a:prstGeom>
          <a:solidFill>
            <a:srgbClr val="AD3B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TextBox 18"/>
          <p:cNvSpPr txBox="1"/>
          <p:nvPr/>
        </p:nvSpPr>
        <p:spPr>
          <a:xfrm>
            <a:off x="548640" y="370332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dirty="0">
                <a:solidFill>
                  <a:srgbClr val="D8DEE6"/>
                </a:solidFill>
                <a:latin typeface="Calibri"/>
                <a:cs typeface="Calibri"/>
              </a:rPr>
              <a:t>Teodora Danilović 4004/2025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dirty="0">
                <a:solidFill>
                  <a:srgbClr val="D8DEE6"/>
                </a:solidFill>
                <a:latin typeface="Calibri"/>
                <a:cs typeface="Calibri"/>
              </a:rPr>
              <a:t>Nina Petković 4005/2025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2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2000" b="1" dirty="0">
                <a:solidFill>
                  <a:srgbClr val="16283F"/>
                </a:solidFill>
                <a:latin typeface="Calibri"/>
                <a:cs typeface="Calibri"/>
              </a:rPr>
              <a:t>Cilj i tok projekta</a:t>
            </a:r>
          </a:p>
        </p:txBody>
      </p:sp>
      <p:sp>
        <p:nvSpPr>
          <p:cNvPr id="21" name="Rect 22"/>
          <p:cNvSpPr/>
          <p:nvPr/>
        </p:nvSpPr>
        <p:spPr>
          <a:xfrm>
            <a:off x="548640" y="786384"/>
            <a:ext cx="11091672" cy="10973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TextBox 24"/>
          <p:cNvSpPr txBox="1"/>
          <p:nvPr/>
        </p:nvSpPr>
        <p:spPr>
          <a:xfrm>
            <a:off x="548640" y="1143000"/>
            <a:ext cx="539496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Cilj projekta je da se na osnovu jedanaest kliničkih pokazatelja predvidi da li pacijent ima srčano oboljenje.</a:t>
            </a:r>
          </a:p>
        </p:txBody>
      </p:sp>
      <p:sp>
        <p:nvSpPr>
          <p:cNvPr id="25" name="TextBox 26"/>
          <p:cNvSpPr txBox="1"/>
          <p:nvPr/>
        </p:nvSpPr>
        <p:spPr>
          <a:xfrm>
            <a:off x="548640" y="1828800"/>
            <a:ext cx="5394960" cy="411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sr-Latn-RS" sz="1200" b="1" dirty="0">
                <a:solidFill>
                  <a:srgbClr val="26333F"/>
                </a:solidFill>
                <a:latin typeface="Calibri"/>
                <a:cs typeface="Calibri"/>
              </a:rPr>
              <a:t>Tip problema:</a:t>
            </a: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 binarna klasifikacija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sr-Latn-RS" sz="1200" b="1" dirty="0">
                <a:solidFill>
                  <a:srgbClr val="26333F"/>
                </a:solidFill>
                <a:latin typeface="Calibri"/>
                <a:cs typeface="Calibri"/>
              </a:rPr>
              <a:t>Ciljna promenljiva:</a:t>
            </a: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 HeartDisease (1 - ima oboljenje, 0 - nema oboljenje)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sr-Latn-RS" sz="1200" b="1" dirty="0">
                <a:solidFill>
                  <a:srgbClr val="26333F"/>
                </a:solidFill>
                <a:latin typeface="Calibri"/>
                <a:cs typeface="Calibri"/>
              </a:rPr>
              <a:t>Skup podataka:</a:t>
            </a: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 Heart Failure Prediction, 918 pacijenata, 11 atributa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sr-Latn-RS" sz="1200" b="1" dirty="0">
                <a:solidFill>
                  <a:srgbClr val="26333F"/>
                </a:solidFill>
                <a:latin typeface="Calibri"/>
                <a:cs typeface="Calibri"/>
              </a:rPr>
              <a:t>Algoritmi:</a:t>
            </a: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 logistička regresija, SVM, KNN, slučajna šuma, AdaBoost, XGBoost i neuronska mreža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Svaki algoritam je treniran u dve varijante: bez regularizacije i sa regularizacijom</a:t>
            </a:r>
          </a:p>
        </p:txBody>
      </p:sp>
      <p:sp>
        <p:nvSpPr>
          <p:cNvPr id="27" name="TextBox 28"/>
          <p:cNvSpPr txBox="1"/>
          <p:nvPr/>
        </p:nvSpPr>
        <p:spPr>
          <a:xfrm>
            <a:off x="6245352" y="11430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400" b="1" dirty="0">
                <a:solidFill>
                  <a:srgbClr val="16283F"/>
                </a:solidFill>
                <a:latin typeface="Calibri"/>
                <a:cs typeface="Calibri"/>
              </a:rPr>
              <a:t>01</a:t>
            </a:r>
          </a:p>
        </p:txBody>
      </p:sp>
      <p:sp>
        <p:nvSpPr>
          <p:cNvPr id="29" name="TextBox 30"/>
          <p:cNvSpPr txBox="1"/>
          <p:nvPr/>
        </p:nvSpPr>
        <p:spPr>
          <a:xfrm>
            <a:off x="6839712" y="1143000"/>
            <a:ext cx="4800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b="1" dirty="0">
                <a:solidFill>
                  <a:srgbClr val="16283F"/>
                </a:solidFill>
                <a:latin typeface="Calibri"/>
                <a:cs typeface="Calibri"/>
              </a:rPr>
              <a:t>Analiza i priprema podataka</a:t>
            </a:r>
          </a:p>
        </p:txBody>
      </p:sp>
      <p:sp>
        <p:nvSpPr>
          <p:cNvPr id="31" name="TextBox 32"/>
          <p:cNvSpPr txBox="1"/>
          <p:nvPr/>
        </p:nvSpPr>
        <p:spPr>
          <a:xfrm>
            <a:off x="6839712" y="1435608"/>
            <a:ext cx="4800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dirty="0">
                <a:solidFill>
                  <a:srgbClr val="667585"/>
                </a:solidFill>
                <a:latin typeface="Calibri"/>
                <a:cs typeface="Calibri"/>
              </a:rPr>
              <a:t>Čišćenje, nedostajuće vrednosti, transformacija atributa</a:t>
            </a:r>
          </a:p>
        </p:txBody>
      </p:sp>
      <p:sp>
        <p:nvSpPr>
          <p:cNvPr id="35" name="TextBox 36"/>
          <p:cNvSpPr txBox="1"/>
          <p:nvPr/>
        </p:nvSpPr>
        <p:spPr>
          <a:xfrm>
            <a:off x="6245352" y="22860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400" b="1" dirty="0">
                <a:solidFill>
                  <a:srgbClr val="16283F"/>
                </a:solidFill>
                <a:latin typeface="Calibri"/>
                <a:cs typeface="Calibri"/>
              </a:rPr>
              <a:t>02</a:t>
            </a:r>
          </a:p>
        </p:txBody>
      </p:sp>
      <p:sp>
        <p:nvSpPr>
          <p:cNvPr id="37" name="TextBox 38"/>
          <p:cNvSpPr txBox="1"/>
          <p:nvPr/>
        </p:nvSpPr>
        <p:spPr>
          <a:xfrm>
            <a:off x="6839712" y="2286000"/>
            <a:ext cx="4800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b="1" dirty="0">
                <a:solidFill>
                  <a:srgbClr val="16283F"/>
                </a:solidFill>
                <a:latin typeface="Calibri"/>
                <a:cs typeface="Calibri"/>
              </a:rPr>
              <a:t>Klasični modeli</a:t>
            </a:r>
          </a:p>
        </p:txBody>
      </p:sp>
      <p:sp>
        <p:nvSpPr>
          <p:cNvPr id="39" name="TextBox 40"/>
          <p:cNvSpPr txBox="1"/>
          <p:nvPr/>
        </p:nvSpPr>
        <p:spPr>
          <a:xfrm>
            <a:off x="6839712" y="2578608"/>
            <a:ext cx="4800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dirty="0">
                <a:solidFill>
                  <a:srgbClr val="667585"/>
                </a:solidFill>
                <a:latin typeface="Calibri"/>
                <a:cs typeface="Calibri"/>
              </a:rPr>
              <a:t>Šest algoritama, bez i sa regularizacijom</a:t>
            </a:r>
          </a:p>
        </p:txBody>
      </p:sp>
      <p:sp>
        <p:nvSpPr>
          <p:cNvPr id="43" name="TextBox 44"/>
          <p:cNvSpPr txBox="1"/>
          <p:nvPr/>
        </p:nvSpPr>
        <p:spPr>
          <a:xfrm>
            <a:off x="6245352" y="34290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400" b="1" dirty="0">
                <a:solidFill>
                  <a:srgbClr val="16283F"/>
                </a:solidFill>
                <a:latin typeface="Calibri"/>
                <a:cs typeface="Calibri"/>
              </a:rPr>
              <a:t>03</a:t>
            </a:r>
          </a:p>
        </p:txBody>
      </p:sp>
      <p:sp>
        <p:nvSpPr>
          <p:cNvPr id="45" name="TextBox 46"/>
          <p:cNvSpPr txBox="1"/>
          <p:nvPr/>
        </p:nvSpPr>
        <p:spPr>
          <a:xfrm>
            <a:off x="6839712" y="3429000"/>
            <a:ext cx="4800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b="1" dirty="0">
                <a:solidFill>
                  <a:srgbClr val="16283F"/>
                </a:solidFill>
                <a:latin typeface="Calibri"/>
                <a:cs typeface="Calibri"/>
              </a:rPr>
              <a:t>Neuronska mreža</a:t>
            </a:r>
          </a:p>
        </p:txBody>
      </p:sp>
      <p:sp>
        <p:nvSpPr>
          <p:cNvPr id="47" name="TextBox 48"/>
          <p:cNvSpPr txBox="1"/>
          <p:nvPr/>
        </p:nvSpPr>
        <p:spPr>
          <a:xfrm>
            <a:off x="6839712" y="3721608"/>
            <a:ext cx="4800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dirty="0">
                <a:solidFill>
                  <a:srgbClr val="667585"/>
                </a:solidFill>
                <a:latin typeface="Calibri"/>
                <a:cs typeface="Calibri"/>
              </a:rPr>
              <a:t>Izbor arhitekture i tehnike regularizacije</a:t>
            </a:r>
          </a:p>
        </p:txBody>
      </p:sp>
      <p:sp>
        <p:nvSpPr>
          <p:cNvPr id="51" name="TextBox 52"/>
          <p:cNvSpPr txBox="1"/>
          <p:nvPr/>
        </p:nvSpPr>
        <p:spPr>
          <a:xfrm>
            <a:off x="6245352" y="457200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400" b="1" dirty="0">
                <a:solidFill>
                  <a:srgbClr val="16283F"/>
                </a:solidFill>
                <a:latin typeface="Calibri"/>
                <a:cs typeface="Calibri"/>
              </a:rPr>
              <a:t>04</a:t>
            </a:r>
          </a:p>
        </p:txBody>
      </p:sp>
      <p:sp>
        <p:nvSpPr>
          <p:cNvPr id="53" name="TextBox 54"/>
          <p:cNvSpPr txBox="1"/>
          <p:nvPr/>
        </p:nvSpPr>
        <p:spPr>
          <a:xfrm>
            <a:off x="6839712" y="4572000"/>
            <a:ext cx="4800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b="1" dirty="0">
                <a:solidFill>
                  <a:srgbClr val="16283F"/>
                </a:solidFill>
                <a:latin typeface="Calibri"/>
                <a:cs typeface="Calibri"/>
              </a:rPr>
              <a:t>Finalno poređenje</a:t>
            </a:r>
          </a:p>
        </p:txBody>
      </p:sp>
      <p:sp>
        <p:nvSpPr>
          <p:cNvPr id="55" name="TextBox 56"/>
          <p:cNvSpPr txBox="1"/>
          <p:nvPr/>
        </p:nvSpPr>
        <p:spPr>
          <a:xfrm>
            <a:off x="6839712" y="4864608"/>
            <a:ext cx="4800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dirty="0">
                <a:solidFill>
                  <a:srgbClr val="667585"/>
                </a:solidFill>
                <a:latin typeface="Calibri"/>
                <a:cs typeface="Calibri"/>
              </a:rPr>
              <a:t>Svi modeli na istom skupu za testiranje</a:t>
            </a:r>
          </a:p>
        </p:txBody>
      </p:sp>
      <p:sp>
        <p:nvSpPr>
          <p:cNvPr id="475" name="TextBox 476"/>
          <p:cNvSpPr txBox="1"/>
          <p:nvPr/>
        </p:nvSpPr>
        <p:spPr>
          <a:xfrm>
            <a:off x="10515600" y="6400800"/>
            <a:ext cx="112471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dirty="0">
                <a:solidFill>
                  <a:srgbClr val="667585"/>
                </a:solidFill>
                <a:latin typeface="Calibri"/>
                <a:cs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60"/>
          <p:cNvSpPr txBox="1"/>
          <p:nvPr/>
        </p:nvSpPr>
        <p:spPr>
          <a:xfrm>
            <a:off x="548640" y="376733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2000" b="1" dirty="0">
                <a:solidFill>
                  <a:srgbClr val="16283F"/>
                </a:solidFill>
                <a:latin typeface="Calibri"/>
                <a:cs typeface="Calibri"/>
              </a:rPr>
              <a:t>Skup podataka</a:t>
            </a:r>
          </a:p>
        </p:txBody>
      </p:sp>
      <p:sp>
        <p:nvSpPr>
          <p:cNvPr id="61" name="Rect 62"/>
          <p:cNvSpPr/>
          <p:nvPr/>
        </p:nvSpPr>
        <p:spPr>
          <a:xfrm>
            <a:off x="548640" y="786384"/>
            <a:ext cx="11091672" cy="10973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TextBox 64"/>
          <p:cNvSpPr txBox="1"/>
          <p:nvPr/>
        </p:nvSpPr>
        <p:spPr>
          <a:xfrm>
            <a:off x="548640" y="1051560"/>
            <a:ext cx="11091672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Heart Failure Prediction je nastao spajanjem pet kardioloških skupova iz UCI repozitorijuma: Cleveland, Mađarska, Švajcarska, Long Beach VA i Stalog. Svaka instanca je jedan pacijent sa nalazima sa rutinskog kardiološkog pregleda. Skup je nebalansiran.</a:t>
            </a:r>
          </a:p>
        </p:txBody>
      </p:sp>
      <p:sp>
        <p:nvSpPr>
          <p:cNvPr id="65" name="Rect 66"/>
          <p:cNvSpPr/>
          <p:nvPr/>
        </p:nvSpPr>
        <p:spPr>
          <a:xfrm>
            <a:off x="548640" y="1691640"/>
            <a:ext cx="2651760" cy="8229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7" name="TextBox 68"/>
          <p:cNvSpPr txBox="1"/>
          <p:nvPr/>
        </p:nvSpPr>
        <p:spPr>
          <a:xfrm>
            <a:off x="548640" y="182880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400" b="1" dirty="0">
                <a:solidFill>
                  <a:srgbClr val="16283F"/>
                </a:solidFill>
                <a:latin typeface="Calibri"/>
                <a:cs typeface="Calibri"/>
              </a:rPr>
              <a:t>918</a:t>
            </a:r>
          </a:p>
        </p:txBody>
      </p:sp>
      <p:sp>
        <p:nvSpPr>
          <p:cNvPr id="69" name="TextBox 70"/>
          <p:cNvSpPr txBox="1"/>
          <p:nvPr/>
        </p:nvSpPr>
        <p:spPr>
          <a:xfrm>
            <a:off x="548640" y="212140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dirty="0">
                <a:solidFill>
                  <a:srgbClr val="667585"/>
                </a:solidFill>
                <a:latin typeface="Calibri"/>
                <a:cs typeface="Calibri"/>
              </a:rPr>
              <a:t>instanci</a:t>
            </a:r>
          </a:p>
        </p:txBody>
      </p:sp>
      <p:sp>
        <p:nvSpPr>
          <p:cNvPr id="71" name="Rect 72"/>
          <p:cNvSpPr/>
          <p:nvPr/>
        </p:nvSpPr>
        <p:spPr>
          <a:xfrm>
            <a:off x="3364992" y="1691640"/>
            <a:ext cx="2651760" cy="8229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3" name="TextBox 74"/>
          <p:cNvSpPr txBox="1"/>
          <p:nvPr/>
        </p:nvSpPr>
        <p:spPr>
          <a:xfrm>
            <a:off x="3364992" y="182880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400" b="1" dirty="0">
                <a:solidFill>
                  <a:srgbClr val="16283F"/>
                </a:solidFill>
                <a:latin typeface="Calibri"/>
                <a:cs typeface="Calibri"/>
              </a:rPr>
              <a:t>11</a:t>
            </a:r>
          </a:p>
        </p:txBody>
      </p:sp>
      <p:sp>
        <p:nvSpPr>
          <p:cNvPr id="75" name="TextBox 76"/>
          <p:cNvSpPr txBox="1"/>
          <p:nvPr/>
        </p:nvSpPr>
        <p:spPr>
          <a:xfrm>
            <a:off x="3364992" y="212140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dirty="0">
                <a:solidFill>
                  <a:srgbClr val="667585"/>
                </a:solidFill>
                <a:latin typeface="Calibri"/>
                <a:cs typeface="Calibri"/>
              </a:rPr>
              <a:t>kliničkih atributa</a:t>
            </a:r>
          </a:p>
        </p:txBody>
      </p:sp>
      <p:sp>
        <p:nvSpPr>
          <p:cNvPr id="77" name="Rect 78"/>
          <p:cNvSpPr/>
          <p:nvPr/>
        </p:nvSpPr>
        <p:spPr>
          <a:xfrm>
            <a:off x="6181344" y="1691640"/>
            <a:ext cx="2651760" cy="8229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9" name="TextBox 80"/>
          <p:cNvSpPr txBox="1"/>
          <p:nvPr/>
        </p:nvSpPr>
        <p:spPr>
          <a:xfrm>
            <a:off x="6181344" y="182880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400" b="1" dirty="0">
                <a:solidFill>
                  <a:srgbClr val="16283F"/>
                </a:solidFill>
                <a:latin typeface="Calibri"/>
                <a:cs typeface="Calibri"/>
              </a:rPr>
              <a:t>55,3% (508)</a:t>
            </a:r>
          </a:p>
        </p:txBody>
      </p:sp>
      <p:sp>
        <p:nvSpPr>
          <p:cNvPr id="81" name="TextBox 82"/>
          <p:cNvSpPr txBox="1"/>
          <p:nvPr/>
        </p:nvSpPr>
        <p:spPr>
          <a:xfrm>
            <a:off x="6181344" y="2121408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dirty="0">
                <a:solidFill>
                  <a:srgbClr val="667585"/>
                </a:solidFill>
                <a:latin typeface="Calibri"/>
                <a:cs typeface="Calibri"/>
              </a:rPr>
              <a:t>ima oboljenje</a:t>
            </a:r>
          </a:p>
        </p:txBody>
      </p:sp>
      <p:sp>
        <p:nvSpPr>
          <p:cNvPr id="83" name="Rect 84"/>
          <p:cNvSpPr/>
          <p:nvPr/>
        </p:nvSpPr>
        <p:spPr>
          <a:xfrm>
            <a:off x="8997696" y="1691640"/>
            <a:ext cx="2642616" cy="8229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5" name="TextBox 86"/>
          <p:cNvSpPr txBox="1"/>
          <p:nvPr/>
        </p:nvSpPr>
        <p:spPr>
          <a:xfrm>
            <a:off x="8997696" y="1828800"/>
            <a:ext cx="264261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400" b="1" dirty="0">
                <a:solidFill>
                  <a:srgbClr val="16283F"/>
                </a:solidFill>
                <a:latin typeface="Calibri"/>
                <a:cs typeface="Calibri"/>
              </a:rPr>
              <a:t>44,7% (410)</a:t>
            </a:r>
          </a:p>
        </p:txBody>
      </p:sp>
      <p:sp>
        <p:nvSpPr>
          <p:cNvPr id="87" name="TextBox 88"/>
          <p:cNvSpPr txBox="1"/>
          <p:nvPr/>
        </p:nvSpPr>
        <p:spPr>
          <a:xfrm>
            <a:off x="8997696" y="2121408"/>
            <a:ext cx="2642616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dirty="0">
                <a:solidFill>
                  <a:srgbClr val="667585"/>
                </a:solidFill>
                <a:latin typeface="Calibri"/>
                <a:cs typeface="Calibri"/>
              </a:rPr>
              <a:t>nema oboljenje</a:t>
            </a:r>
          </a:p>
        </p:txBody>
      </p:sp>
      <p:sp>
        <p:nvSpPr>
          <p:cNvPr id="89" name="TextBox 90"/>
          <p:cNvSpPr txBox="1"/>
          <p:nvPr/>
        </p:nvSpPr>
        <p:spPr>
          <a:xfrm>
            <a:off x="548640" y="2697480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b="1" dirty="0">
                <a:solidFill>
                  <a:srgbClr val="16283F"/>
                </a:solidFill>
                <a:latin typeface="Calibri"/>
                <a:cs typeface="Calibri"/>
              </a:rPr>
              <a:t>Atributi</a:t>
            </a:r>
          </a:p>
        </p:txBody>
      </p:sp>
      <p:graphicFrame>
        <p:nvGraphicFramePr>
          <p:cNvPr id="91" name="Tabela 92"/>
          <p:cNvGraphicFramePr>
            <a:graphicFrameLocks noGrp="1"/>
          </p:cNvGraphicFramePr>
          <p:nvPr/>
        </p:nvGraphicFramePr>
        <p:xfrm>
          <a:off x="548640" y="3017520"/>
          <a:ext cx="5394960" cy="192024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atribut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tip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opis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Age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numerički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starost pacijenta (godine)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Sex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kategorički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pol (M, F)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ChestPainType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kategorički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tip bola u grudima (TA, ATA, NAP, ASY)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RestingBP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numerički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krvni pritisak u mirovanju (mm Hg)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Cholesterol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numerički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holesterol u serumu (mg/dl)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FastingBS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binarni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glukoza u krvi &gt; 120 mg/dl (1 / 0)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3" name="Tabela 94"/>
          <p:cNvGraphicFramePr>
            <a:graphicFrameLocks noGrp="1"/>
          </p:cNvGraphicFramePr>
          <p:nvPr/>
        </p:nvGraphicFramePr>
        <p:xfrm>
          <a:off x="6245352" y="3017520"/>
          <a:ext cx="5394960" cy="192024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atribut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tip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opis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RestingECG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kategorički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nalaz EKG-a u mirovanju (Normal, ST, LVH)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MaxHR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numerički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maksimalna srčana frekvencija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ExerciseAngina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kategorički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angina izazvana naporom (Y, N)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Oldpeak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numerički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ST depresija pri naporu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ST_Slope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kategorički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nagib ST segmenta (Up, Flat, Down)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HeartDisease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ciljna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srčano oboljenje (1 / 0)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5" name="TextBox 96"/>
          <p:cNvSpPr txBox="1"/>
          <p:nvPr/>
        </p:nvSpPr>
        <p:spPr>
          <a:xfrm>
            <a:off x="548640" y="5440680"/>
            <a:ext cx="11091672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dirty="0">
                <a:latin typeface="Calibri"/>
                <a:cs typeface="Calibri"/>
              </a:rPr>
              <a:t>Numerički atributi imaju vrlo različite skale pa je potrebno izvršiti standardizaciju, a pet kategoričkih atributa (Sex, ChestPainType, RestingECG, ExerciseAngina, ST_Slope) zapisano je kao niske, pa ih je pre treniranja potrebno pretvoriti u brojeve.</a:t>
            </a:r>
          </a:p>
        </p:txBody>
      </p:sp>
      <p:sp>
        <p:nvSpPr>
          <p:cNvPr id="477" name="TextBox 478"/>
          <p:cNvSpPr txBox="1"/>
          <p:nvPr/>
        </p:nvSpPr>
        <p:spPr>
          <a:xfrm>
            <a:off x="10515600" y="6400800"/>
            <a:ext cx="112471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dirty="0">
                <a:solidFill>
                  <a:srgbClr val="667585"/>
                </a:solidFill>
                <a:latin typeface="Calibri"/>
                <a:cs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14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2000" b="1" dirty="0">
                <a:solidFill>
                  <a:srgbClr val="16283F"/>
                </a:solidFill>
                <a:latin typeface="Calibri"/>
                <a:cs typeface="Calibri"/>
              </a:rPr>
              <a:t>Nedostajuće vrednosti upisane kao nula</a:t>
            </a:r>
          </a:p>
        </p:txBody>
      </p:sp>
      <p:sp>
        <p:nvSpPr>
          <p:cNvPr id="115" name="Rect 116"/>
          <p:cNvSpPr/>
          <p:nvPr/>
        </p:nvSpPr>
        <p:spPr>
          <a:xfrm>
            <a:off x="548640" y="786384"/>
            <a:ext cx="11091672" cy="10973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txBody>
          <a:bodyPr/>
          <a:lstStyle/>
          <a:p>
            <a:endParaRPr/>
          </a:p>
        </p:txBody>
      </p:sp>
      <p:graphicFrame>
        <p:nvGraphicFramePr>
          <p:cNvPr id="121" name="Tabela 1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6902214"/>
              </p:ext>
            </p:extLst>
          </p:nvPr>
        </p:nvGraphicFramePr>
        <p:xfrm>
          <a:off x="551689" y="1713086"/>
          <a:ext cx="5394960" cy="1670194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859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atribut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prosek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std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min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medijana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max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Age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53,51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9,43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28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54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77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RestingBP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132,40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18,51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ea typeface="+mn-ea"/>
                          <a:cs typeface="Calibri"/>
                        </a:rPr>
                        <a:t>0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130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200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Cholesterol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198,80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109,38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ea typeface="+mn-ea"/>
                          <a:cs typeface="Calibri"/>
                        </a:rPr>
                        <a:t>0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223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603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MaxHR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136,81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25,46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60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138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202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Oldpeak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0,89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1,07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−2,6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0,6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6,2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83" name="Slika 4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221602"/>
            <a:ext cx="5188624" cy="4070062"/>
          </a:xfrm>
          <a:prstGeom prst="rect">
            <a:avLst/>
          </a:prstGeom>
        </p:spPr>
      </p:pic>
      <p:sp>
        <p:nvSpPr>
          <p:cNvPr id="485" name="TextBox 486"/>
          <p:cNvSpPr txBox="1"/>
          <p:nvPr/>
        </p:nvSpPr>
        <p:spPr>
          <a:xfrm>
            <a:off x="10515600" y="6400800"/>
            <a:ext cx="112471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dirty="0">
                <a:solidFill>
                  <a:srgbClr val="667585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1B639D-0176-F6BC-F902-FA2B12B30F9A}"/>
              </a:ext>
            </a:extLst>
          </p:cNvPr>
          <p:cNvSpPr txBox="1"/>
          <p:nvPr/>
        </p:nvSpPr>
        <p:spPr>
          <a:xfrm>
            <a:off x="612251" y="3916671"/>
            <a:ext cx="54837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+mj-lt"/>
              </a:rPr>
              <a:t>Nakon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pregleda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podataka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uočili</a:t>
            </a:r>
            <a:r>
              <a:rPr lang="en-US" sz="1200" dirty="0">
                <a:latin typeface="+mj-lt"/>
              </a:rPr>
              <a:t> smo </a:t>
            </a:r>
            <a:r>
              <a:rPr lang="en-US" sz="1200" dirty="0" err="1">
                <a:latin typeface="+mj-lt"/>
              </a:rPr>
              <a:t>nule</a:t>
            </a:r>
            <a:r>
              <a:rPr lang="en-US" sz="1200" dirty="0">
                <a:latin typeface="+mj-lt"/>
              </a:rPr>
              <a:t> u </a:t>
            </a:r>
            <a:r>
              <a:rPr lang="en-US" sz="1200" dirty="0" err="1">
                <a:latin typeface="+mj-lt"/>
              </a:rPr>
              <a:t>kolonama</a:t>
            </a:r>
            <a:r>
              <a:rPr lang="en-US" sz="1200" dirty="0">
                <a:latin typeface="+mj-lt"/>
              </a:rPr>
              <a:t> Cholesterol </a:t>
            </a:r>
            <a:r>
              <a:rPr lang="en-US" sz="1200" dirty="0" err="1">
                <a:latin typeface="+mj-lt"/>
              </a:rPr>
              <a:t>i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RestingBP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koje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predstavljaju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nedostajuće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vrednosti</a:t>
            </a:r>
            <a:r>
              <a:rPr lang="en-US" sz="1200" dirty="0">
                <a:latin typeface="+mj-lt"/>
              </a:rPr>
              <a:t>, pa smo </a:t>
            </a:r>
            <a:r>
              <a:rPr lang="en-US" sz="1200" dirty="0" err="1">
                <a:latin typeface="+mj-lt"/>
              </a:rPr>
              <a:t>ih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zamenili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medijanom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i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dodali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atribut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Cholesterol_izmeren</a:t>
            </a:r>
            <a:r>
              <a:rPr lang="en-US" sz="1200" dirty="0">
                <a:latin typeface="+mj-lt"/>
              </a:rPr>
              <a:t> koji </a:t>
            </a:r>
            <a:r>
              <a:rPr lang="en-US" sz="1200" dirty="0" err="1">
                <a:latin typeface="+mj-lt"/>
              </a:rPr>
              <a:t>beleži</a:t>
            </a:r>
            <a:r>
              <a:rPr lang="en-US" sz="1200" dirty="0">
                <a:latin typeface="+mj-lt"/>
              </a:rPr>
              <a:t> da li je </a:t>
            </a:r>
            <a:r>
              <a:rPr lang="en-US" sz="1200" dirty="0" err="1">
                <a:latin typeface="+mj-lt"/>
              </a:rPr>
              <a:t>merenje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uopšte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obavljeno</a:t>
            </a:r>
            <a:r>
              <a:rPr lang="en-US" sz="1200" dirty="0">
                <a:latin typeface="+mj-lt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Box 152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2000" b="1" dirty="0">
                <a:solidFill>
                  <a:srgbClr val="16283F"/>
                </a:solidFill>
                <a:latin typeface="Calibri"/>
                <a:cs typeface="Calibri"/>
              </a:rPr>
              <a:t>Raspodele numeričkih atributa</a:t>
            </a:r>
          </a:p>
        </p:txBody>
      </p:sp>
      <p:sp>
        <p:nvSpPr>
          <p:cNvPr id="153" name="Rect 154"/>
          <p:cNvSpPr/>
          <p:nvPr/>
        </p:nvSpPr>
        <p:spPr>
          <a:xfrm>
            <a:off x="548640" y="786384"/>
            <a:ext cx="11091672" cy="10973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489" name="Slika 49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9" y="1051560"/>
            <a:ext cx="6939502" cy="5120640"/>
          </a:xfrm>
          <a:prstGeom prst="rect">
            <a:avLst/>
          </a:prstGeom>
        </p:spPr>
      </p:pic>
      <p:sp>
        <p:nvSpPr>
          <p:cNvPr id="157" name="TextBox 158"/>
          <p:cNvSpPr txBox="1"/>
          <p:nvPr/>
        </p:nvSpPr>
        <p:spPr>
          <a:xfrm>
            <a:off x="8118282" y="1234440"/>
            <a:ext cx="3522030" cy="4937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sr-Latn-RS" sz="1200" b="1" dirty="0">
                <a:solidFill>
                  <a:srgbClr val="26333F"/>
                </a:solidFill>
                <a:latin typeface="Calibri"/>
                <a:cs typeface="Calibri"/>
              </a:rPr>
              <a:t>Age:</a:t>
            </a: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 od 28 do 77 godina, medijana 54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sr-Latn-RS" sz="1200" b="1" dirty="0">
                <a:solidFill>
                  <a:srgbClr val="26333F"/>
                </a:solidFill>
                <a:latin typeface="Calibri"/>
                <a:cs typeface="Calibri"/>
              </a:rPr>
              <a:t>RestingBP:</a:t>
            </a: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 medijana 130 mm Hg, maksimum 200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sr-Latn-RS" sz="1200" b="1" dirty="0">
                <a:solidFill>
                  <a:srgbClr val="26333F"/>
                </a:solidFill>
                <a:latin typeface="Calibri"/>
                <a:cs typeface="Calibri"/>
              </a:rPr>
              <a:t>Cholesterol:</a:t>
            </a: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 do 603 mg/dl; nule su zamenjene medijanom 237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sr-Latn-RS" sz="1200" b="1" dirty="0">
                <a:solidFill>
                  <a:srgbClr val="26333F"/>
                </a:solidFill>
                <a:latin typeface="Calibri"/>
                <a:cs typeface="Calibri"/>
              </a:rPr>
              <a:t>MaxHR:</a:t>
            </a: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 od 60 do 202, medijana 138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sr-Latn-RS" sz="1200" b="1" dirty="0">
                <a:solidFill>
                  <a:srgbClr val="26333F"/>
                </a:solidFill>
                <a:latin typeface="Calibri"/>
                <a:cs typeface="Calibri"/>
              </a:rPr>
              <a:t>Oldpeak:</a:t>
            </a: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 od −2,6 do 6,2, medijana 0,6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sr-Latn-RS" sz="1200" b="1" dirty="0">
                <a:solidFill>
                  <a:srgbClr val="26333F"/>
                </a:solidFill>
                <a:latin typeface="Calibri"/>
                <a:cs typeface="Calibri"/>
              </a:rPr>
              <a:t>FastingBS:</a:t>
            </a: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 binarni atribut, prosek 0,23 – 23% pacijenata ima povišenu glukozu</a:t>
            </a:r>
          </a:p>
        </p:txBody>
      </p:sp>
      <p:sp>
        <p:nvSpPr>
          <p:cNvPr id="491" name="TextBox 492"/>
          <p:cNvSpPr txBox="1"/>
          <p:nvPr/>
        </p:nvSpPr>
        <p:spPr>
          <a:xfrm>
            <a:off x="10515600" y="6400800"/>
            <a:ext cx="112471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dirty="0">
                <a:solidFill>
                  <a:srgbClr val="667585"/>
                </a:solidFill>
                <a:latin typeface="Calibri"/>
                <a:cs typeface="Calibri"/>
              </a:rP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TextBox 176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2000" b="1" dirty="0">
                <a:solidFill>
                  <a:srgbClr val="16283F"/>
                </a:solidFill>
                <a:latin typeface="Calibri"/>
                <a:cs typeface="Calibri"/>
              </a:rPr>
              <a:t>Transformacija kategoričkih atributa i standardizacija</a:t>
            </a:r>
          </a:p>
        </p:txBody>
      </p:sp>
      <p:sp>
        <p:nvSpPr>
          <p:cNvPr id="177" name="Rect 178"/>
          <p:cNvSpPr/>
          <p:nvPr/>
        </p:nvSpPr>
        <p:spPr>
          <a:xfrm>
            <a:off x="548640" y="786384"/>
            <a:ext cx="11091672" cy="10973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9" name="TextBox 180"/>
          <p:cNvSpPr txBox="1"/>
          <p:nvPr/>
        </p:nvSpPr>
        <p:spPr>
          <a:xfrm>
            <a:off x="548640" y="120661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b="1" dirty="0">
                <a:solidFill>
                  <a:srgbClr val="16283F"/>
                </a:solidFill>
                <a:latin typeface="Calibri"/>
                <a:cs typeface="Calibri"/>
              </a:rPr>
              <a:t>Kategorički atributi</a:t>
            </a:r>
          </a:p>
        </p:txBody>
      </p:sp>
      <p:sp>
        <p:nvSpPr>
          <p:cNvPr id="181" name="TextBox 182"/>
          <p:cNvSpPr txBox="1"/>
          <p:nvPr/>
        </p:nvSpPr>
        <p:spPr>
          <a:xfrm>
            <a:off x="548640" y="1735372"/>
            <a:ext cx="5394960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Pet atributa zapisano je kao niske i pretvoreno je u binarne kolone (0 / 1)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Izbačena je po jednu kolonu iz svake grupe i sprečava linearnu zavisnost među atributima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Posle transformacije skup ima 918 instanci, 16 atributa i ciljnu promenljivu</a:t>
            </a:r>
          </a:p>
        </p:txBody>
      </p:sp>
      <p:graphicFrame>
        <p:nvGraphicFramePr>
          <p:cNvPr id="183" name="Tabela 1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203960"/>
              </p:ext>
            </p:extLst>
          </p:nvPr>
        </p:nvGraphicFramePr>
        <p:xfrm>
          <a:off x="3246120" y="3363402"/>
          <a:ext cx="5319423" cy="1809360"/>
        </p:xfrm>
        <a:graphic>
          <a:graphicData uri="http://schemas.openxmlformats.org/drawingml/2006/table">
            <a:tbl>
              <a:tblPr/>
              <a:tblGrid>
                <a:gridCol w="1577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16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originalni atribut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nove binarne kolone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Sex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Sex_M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ChestPainType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ChestPainType_ATA, ChestPainType_NAP, ChestPainType_TA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RestingECG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RestingECG_Normal, RestingECG_ST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ExerciseAngina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ExerciseAngina_Y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ST_Slope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ST_Slope_Flat, ST_Slope_Up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5" name="TextBox 186"/>
          <p:cNvSpPr txBox="1"/>
          <p:nvPr/>
        </p:nvSpPr>
        <p:spPr>
          <a:xfrm>
            <a:off x="6245352" y="120661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b="1" dirty="0">
                <a:solidFill>
                  <a:srgbClr val="16283F"/>
                </a:solidFill>
                <a:latin typeface="Calibri"/>
                <a:cs typeface="Calibri"/>
              </a:rPr>
              <a:t>Standardizacija </a:t>
            </a:r>
          </a:p>
        </p:txBody>
      </p:sp>
      <p:sp>
        <p:nvSpPr>
          <p:cNvPr id="187" name="TextBox 188"/>
          <p:cNvSpPr txBox="1"/>
          <p:nvPr/>
        </p:nvSpPr>
        <p:spPr>
          <a:xfrm>
            <a:off x="6245352" y="1685238"/>
            <a:ext cx="5394960" cy="21945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Skale su vrlo različite: Oldpeak od −2,6 do 6,2, a Cholesterol od 0 do 603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Prosek i varijansa računaju se </a:t>
            </a:r>
            <a:r>
              <a:rPr lang="sr-Latn-RS" sz="1200" b="1" dirty="0">
                <a:solidFill>
                  <a:srgbClr val="26333F"/>
                </a:solidFill>
                <a:latin typeface="Calibri"/>
                <a:cs typeface="Calibri"/>
              </a:rPr>
              <a:t>samo na skupu za treniranje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Naučena transformacija se primenjuje na validacioni i test skup</a:t>
            </a:r>
          </a:p>
        </p:txBody>
      </p:sp>
      <p:sp>
        <p:nvSpPr>
          <p:cNvPr id="495" name="TextBox 496"/>
          <p:cNvSpPr txBox="1"/>
          <p:nvPr/>
        </p:nvSpPr>
        <p:spPr>
          <a:xfrm>
            <a:off x="10515600" y="6400800"/>
            <a:ext cx="112471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dirty="0">
                <a:solidFill>
                  <a:srgbClr val="667585"/>
                </a:solidFill>
                <a:latin typeface="Calibri"/>
                <a:cs typeface="Calibri"/>
              </a:rPr>
              <a:t>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Box 194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2000" b="1" dirty="0">
                <a:solidFill>
                  <a:srgbClr val="16283F"/>
                </a:solidFill>
                <a:latin typeface="Calibri"/>
                <a:cs typeface="Calibri"/>
              </a:rPr>
              <a:t>Korelacije sa ciljnom promenljivom</a:t>
            </a:r>
          </a:p>
        </p:txBody>
      </p:sp>
      <p:sp>
        <p:nvSpPr>
          <p:cNvPr id="195" name="Rect 196"/>
          <p:cNvSpPr/>
          <p:nvPr/>
        </p:nvSpPr>
        <p:spPr>
          <a:xfrm>
            <a:off x="548640" y="786384"/>
            <a:ext cx="11091672" cy="10973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497" name="Slika 4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59" y="1463042"/>
            <a:ext cx="7087273" cy="4625726"/>
          </a:xfrm>
          <a:prstGeom prst="rect">
            <a:avLst/>
          </a:prstGeom>
        </p:spPr>
      </p:pic>
      <p:sp>
        <p:nvSpPr>
          <p:cNvPr id="201" name="TextBox 202"/>
          <p:cNvSpPr txBox="1"/>
          <p:nvPr/>
        </p:nvSpPr>
        <p:spPr>
          <a:xfrm>
            <a:off x="7641203" y="1737360"/>
            <a:ext cx="4181989" cy="5120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sr-Latn-RS" sz="1200" b="1" dirty="0">
                <a:solidFill>
                  <a:srgbClr val="26333F"/>
                </a:solidFill>
                <a:latin typeface="Calibri"/>
                <a:cs typeface="Calibri"/>
              </a:rPr>
              <a:t>ST_Slope</a:t>
            </a: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 je najjače povezan sa ciljnom promenljivom: uzlazni nagib (ST_Slope_Up, −0,62) smanjuje šansu za oboljenje, a ravan nagib (ST_Slope_Flat, 0,55) je povećava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sr-Latn-RS" sz="1200" b="1" dirty="0">
                <a:solidFill>
                  <a:srgbClr val="26333F"/>
                </a:solidFill>
                <a:latin typeface="Calibri"/>
                <a:cs typeface="Calibri"/>
              </a:rPr>
              <a:t>ChestPainType_ATA</a:t>
            </a: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 (−0,40) i </a:t>
            </a:r>
            <a:r>
              <a:rPr lang="sr-Latn-RS" sz="1200" b="1" dirty="0">
                <a:solidFill>
                  <a:srgbClr val="26333F"/>
                </a:solidFill>
                <a:latin typeface="Calibri"/>
                <a:cs typeface="Calibri"/>
              </a:rPr>
              <a:t>MaxHR</a:t>
            </a: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 (−0,40) imaju jaku negativnu vezu, viša vrednost znači manju šansu za oboljenje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sr-Latn-RS" sz="1200" b="1" dirty="0">
                <a:solidFill>
                  <a:srgbClr val="26333F"/>
                </a:solidFill>
                <a:latin typeface="Calibri"/>
                <a:cs typeface="Calibri"/>
              </a:rPr>
              <a:t>Cholesterol_izmeren</a:t>
            </a: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 (−0,32) je negativno povezan, pacijenti kojima holesterol nije izmeren češće imaju oboljenje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sr-Latn-RS" sz="1200" b="1" dirty="0">
                <a:solidFill>
                  <a:srgbClr val="26333F"/>
                </a:solidFill>
                <a:latin typeface="Calibri"/>
                <a:cs typeface="Calibri"/>
              </a:rPr>
              <a:t>ExerciseAngina_Y</a:t>
            </a: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 (0,49) i </a:t>
            </a:r>
            <a:r>
              <a:rPr lang="sr-Latn-RS" sz="1200" b="1" dirty="0">
                <a:solidFill>
                  <a:srgbClr val="26333F"/>
                </a:solidFill>
                <a:latin typeface="Calibri"/>
                <a:cs typeface="Calibri"/>
              </a:rPr>
              <a:t>Oldpeak</a:t>
            </a: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 (0,40) su pozitivno povezani sa oboljenjem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sr-Latn-RS" sz="1200" b="1" dirty="0">
                <a:solidFill>
                  <a:srgbClr val="26333F"/>
                </a:solidFill>
                <a:latin typeface="Calibri"/>
                <a:cs typeface="Calibri"/>
              </a:rPr>
              <a:t>Sex_M</a:t>
            </a: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 (0,31) i </a:t>
            </a:r>
            <a:r>
              <a:rPr lang="sr-Latn-RS" sz="1200" b="1" dirty="0">
                <a:solidFill>
                  <a:srgbClr val="26333F"/>
                </a:solidFill>
                <a:latin typeface="Calibri"/>
                <a:cs typeface="Calibri"/>
              </a:rPr>
              <a:t>Age</a:t>
            </a: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 (0,28) pokazuju umerenu pozitivnu vezu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sr-Latn-RS" sz="1200" b="1" dirty="0">
                <a:solidFill>
                  <a:srgbClr val="26333F"/>
                </a:solidFill>
                <a:latin typeface="Calibri"/>
                <a:cs typeface="Calibri"/>
              </a:rPr>
              <a:t>Cholesterol</a:t>
            </a: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 (0,08), </a:t>
            </a:r>
            <a:r>
              <a:rPr lang="sr-Latn-RS" sz="1200" b="1" dirty="0">
                <a:solidFill>
                  <a:srgbClr val="26333F"/>
                </a:solidFill>
                <a:latin typeface="Calibri"/>
                <a:cs typeface="Calibri"/>
              </a:rPr>
              <a:t>RestingBP</a:t>
            </a: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 (0,12) i </a:t>
            </a:r>
            <a:r>
              <a:rPr lang="sr-Latn-RS" sz="1200" b="1" dirty="0">
                <a:solidFill>
                  <a:srgbClr val="26333F"/>
                </a:solidFill>
                <a:latin typeface="Calibri"/>
                <a:cs typeface="Calibri"/>
              </a:rPr>
              <a:t>ChestPainType_TA</a:t>
            </a: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 (−0,05) imaju slabu vezu sa ciljnom promenljivom</a:t>
            </a:r>
          </a:p>
        </p:txBody>
      </p:sp>
      <p:sp>
        <p:nvSpPr>
          <p:cNvPr id="499" name="TextBox 500"/>
          <p:cNvSpPr txBox="1"/>
          <p:nvPr/>
        </p:nvSpPr>
        <p:spPr>
          <a:xfrm>
            <a:off x="10515600" y="6400800"/>
            <a:ext cx="112471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dirty="0">
                <a:solidFill>
                  <a:srgbClr val="667585"/>
                </a:solidFill>
                <a:latin typeface="Calibri"/>
                <a:cs typeface="Calibri"/>
              </a:rPr>
              <a:t>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extBox 204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2000" b="1" dirty="0">
                <a:solidFill>
                  <a:srgbClr val="16283F"/>
                </a:solidFill>
                <a:latin typeface="Calibri"/>
                <a:cs typeface="Calibri"/>
              </a:rPr>
              <a:t>Podela podataka i ocenjivanje modela</a:t>
            </a:r>
          </a:p>
        </p:txBody>
      </p:sp>
      <p:sp>
        <p:nvSpPr>
          <p:cNvPr id="205" name="Rect 206"/>
          <p:cNvSpPr/>
          <p:nvPr/>
        </p:nvSpPr>
        <p:spPr>
          <a:xfrm>
            <a:off x="548640" y="786384"/>
            <a:ext cx="11091672" cy="10973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7" name="Rect 208"/>
          <p:cNvSpPr/>
          <p:nvPr/>
        </p:nvSpPr>
        <p:spPr>
          <a:xfrm>
            <a:off x="548640" y="1097280"/>
            <a:ext cx="3566160" cy="8686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9" name="TextBox 210"/>
          <p:cNvSpPr txBox="1"/>
          <p:nvPr/>
        </p:nvSpPr>
        <p:spPr>
          <a:xfrm>
            <a:off x="548640" y="125730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 dirty="0">
                <a:solidFill>
                  <a:srgbClr val="16283F"/>
                </a:solidFill>
                <a:latin typeface="Calibri"/>
                <a:cs typeface="Calibri"/>
              </a:rPr>
              <a:t>587</a:t>
            </a:r>
            <a:endParaRPr lang="sr-Latn-RS" sz="1400" b="1" dirty="0">
              <a:solidFill>
                <a:srgbClr val="16283F"/>
              </a:solidFill>
              <a:latin typeface="Calibri"/>
              <a:cs typeface="Calibri"/>
            </a:endParaRPr>
          </a:p>
        </p:txBody>
      </p:sp>
      <p:sp>
        <p:nvSpPr>
          <p:cNvPr id="211" name="TextBox 212"/>
          <p:cNvSpPr txBox="1"/>
          <p:nvPr/>
        </p:nvSpPr>
        <p:spPr>
          <a:xfrm>
            <a:off x="548640" y="156581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dirty="0">
                <a:solidFill>
                  <a:srgbClr val="667585"/>
                </a:solidFill>
                <a:latin typeface="Calibri"/>
                <a:cs typeface="Calibri"/>
              </a:rPr>
              <a:t>instanci za treniranje</a:t>
            </a:r>
          </a:p>
        </p:txBody>
      </p:sp>
      <p:sp>
        <p:nvSpPr>
          <p:cNvPr id="213" name="Rect 214"/>
          <p:cNvSpPr/>
          <p:nvPr/>
        </p:nvSpPr>
        <p:spPr>
          <a:xfrm>
            <a:off x="4311396" y="1097280"/>
            <a:ext cx="3566160" cy="8686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5" name="TextBox 216"/>
          <p:cNvSpPr txBox="1"/>
          <p:nvPr/>
        </p:nvSpPr>
        <p:spPr>
          <a:xfrm>
            <a:off x="4311396" y="125730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2000" b="1" dirty="0">
                <a:solidFill>
                  <a:srgbClr val="16283F"/>
                </a:solidFill>
                <a:latin typeface="Calibri"/>
                <a:cs typeface="Calibri"/>
              </a:rPr>
              <a:t>147</a:t>
            </a:r>
            <a:endParaRPr lang="sr-Latn-RS" sz="1400" b="1" dirty="0">
              <a:solidFill>
                <a:srgbClr val="16283F"/>
              </a:solidFill>
              <a:latin typeface="Calibri"/>
              <a:cs typeface="Calibri"/>
            </a:endParaRPr>
          </a:p>
        </p:txBody>
      </p:sp>
      <p:sp>
        <p:nvSpPr>
          <p:cNvPr id="217" name="TextBox 218"/>
          <p:cNvSpPr txBox="1"/>
          <p:nvPr/>
        </p:nvSpPr>
        <p:spPr>
          <a:xfrm>
            <a:off x="4311396" y="156581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dirty="0">
                <a:solidFill>
                  <a:srgbClr val="667585"/>
                </a:solidFill>
                <a:latin typeface="Calibri"/>
                <a:cs typeface="Calibri"/>
              </a:rPr>
              <a:t>instanci za validaciju</a:t>
            </a:r>
          </a:p>
        </p:txBody>
      </p:sp>
      <p:sp>
        <p:nvSpPr>
          <p:cNvPr id="219" name="Rect 220"/>
          <p:cNvSpPr/>
          <p:nvPr/>
        </p:nvSpPr>
        <p:spPr>
          <a:xfrm>
            <a:off x="8074152" y="1097280"/>
            <a:ext cx="3566160" cy="86868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1" name="TextBox 222"/>
          <p:cNvSpPr txBox="1"/>
          <p:nvPr/>
        </p:nvSpPr>
        <p:spPr>
          <a:xfrm>
            <a:off x="8074152" y="125730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2000" b="1" dirty="0">
                <a:solidFill>
                  <a:srgbClr val="16283F"/>
                </a:solidFill>
                <a:latin typeface="Calibri"/>
                <a:cs typeface="Calibri"/>
              </a:rPr>
              <a:t>184</a:t>
            </a:r>
          </a:p>
        </p:txBody>
      </p:sp>
      <p:sp>
        <p:nvSpPr>
          <p:cNvPr id="223" name="TextBox 224"/>
          <p:cNvSpPr txBox="1"/>
          <p:nvPr/>
        </p:nvSpPr>
        <p:spPr>
          <a:xfrm>
            <a:off x="8074152" y="1565810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dirty="0">
                <a:solidFill>
                  <a:srgbClr val="667585"/>
                </a:solidFill>
                <a:latin typeface="Calibri"/>
                <a:cs typeface="Calibri"/>
              </a:rPr>
              <a:t>instanci za testiranje</a:t>
            </a:r>
          </a:p>
        </p:txBody>
      </p:sp>
      <p:sp>
        <p:nvSpPr>
          <p:cNvPr id="225" name="TextBox 226"/>
          <p:cNvSpPr txBox="1"/>
          <p:nvPr/>
        </p:nvSpPr>
        <p:spPr>
          <a:xfrm>
            <a:off x="548640" y="2194560"/>
            <a:ext cx="11091672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Prva podela u razmeri 8:2 – 734 instance (treniranje + validacija) i 184 instance (test)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Druga podela: od 734 instance 80% ostaje za treniranje (587), a 20% čini validacioni skup (147)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Obe podele su stratifikovane po ciljnoj promenljivoj</a:t>
            </a:r>
          </a:p>
        </p:txBody>
      </p:sp>
      <p:sp>
        <p:nvSpPr>
          <p:cNvPr id="227" name="Rect 228"/>
          <p:cNvSpPr/>
          <p:nvPr/>
        </p:nvSpPr>
        <p:spPr>
          <a:xfrm>
            <a:off x="548640" y="3794760"/>
            <a:ext cx="11091672" cy="10973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9" name="TextBox 230"/>
          <p:cNvSpPr txBox="1"/>
          <p:nvPr/>
        </p:nvSpPr>
        <p:spPr>
          <a:xfrm>
            <a:off x="548640" y="397764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b="1" dirty="0">
                <a:solidFill>
                  <a:srgbClr val="16283F"/>
                </a:solidFill>
                <a:latin typeface="Calibri"/>
                <a:cs typeface="Calibri"/>
              </a:rPr>
              <a:t>Podešavanje metaparametara</a:t>
            </a:r>
          </a:p>
        </p:txBody>
      </p:sp>
      <p:sp>
        <p:nvSpPr>
          <p:cNvPr id="231" name="TextBox 232"/>
          <p:cNvSpPr txBox="1"/>
          <p:nvPr/>
        </p:nvSpPr>
        <p:spPr>
          <a:xfrm>
            <a:off x="548640" y="4343400"/>
            <a:ext cx="5394960" cy="182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Za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logističku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regresiju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SVM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KNN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metaparametri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birani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poređenjem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rezultata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izdvojenom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validacionom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skupu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dok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za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slučajnu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šumu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AdaBoost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birani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unakrsnom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validacijom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pomoću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GridSearchCV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-a.</a:t>
            </a:r>
          </a:p>
        </p:txBody>
      </p:sp>
      <p:sp>
        <p:nvSpPr>
          <p:cNvPr id="233" name="TextBox 234"/>
          <p:cNvSpPr txBox="1"/>
          <p:nvPr/>
        </p:nvSpPr>
        <p:spPr>
          <a:xfrm>
            <a:off x="6245352" y="397764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b="1" dirty="0">
                <a:solidFill>
                  <a:srgbClr val="16283F"/>
                </a:solidFill>
                <a:latin typeface="Calibri"/>
                <a:cs typeface="Calibri"/>
              </a:rPr>
              <a:t>Mere kvaliteta</a:t>
            </a:r>
          </a:p>
        </p:txBody>
      </p:sp>
      <p:sp>
        <p:nvSpPr>
          <p:cNvPr id="235" name="TextBox 236"/>
          <p:cNvSpPr txBox="1"/>
          <p:nvPr/>
        </p:nvSpPr>
        <p:spPr>
          <a:xfrm>
            <a:off x="6245352" y="4343400"/>
            <a:ext cx="5394960" cy="182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200" dirty="0" err="1">
                <a:solidFill>
                  <a:srgbClr val="2633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Modeli</a:t>
            </a:r>
            <a:r>
              <a:rPr lang="en-US" sz="1200" dirty="0">
                <a:solidFill>
                  <a:srgbClr val="2633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2633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</a:t>
            </a:r>
            <a:r>
              <a:rPr lang="en-US" sz="1200" dirty="0">
                <a:solidFill>
                  <a:srgbClr val="2633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2633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ocenjivani</a:t>
            </a:r>
            <a:r>
              <a:rPr lang="en-US" sz="1200" dirty="0">
                <a:solidFill>
                  <a:srgbClr val="2633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2633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pomoću</a:t>
            </a:r>
            <a:r>
              <a:rPr lang="en-US" sz="1200" dirty="0">
                <a:solidFill>
                  <a:srgbClr val="2633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2633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tačnosti</a:t>
            </a:r>
            <a:r>
              <a:rPr lang="en-US" sz="1200" dirty="0">
                <a:solidFill>
                  <a:srgbClr val="2633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dirty="0" err="1">
                <a:solidFill>
                  <a:srgbClr val="2633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preciznosti</a:t>
            </a:r>
            <a:r>
              <a:rPr lang="en-US" sz="1200" dirty="0">
                <a:solidFill>
                  <a:srgbClr val="2633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dirty="0" err="1">
                <a:solidFill>
                  <a:srgbClr val="2633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odziva</a:t>
            </a:r>
            <a:r>
              <a:rPr lang="en-US" sz="1200" dirty="0">
                <a:solidFill>
                  <a:srgbClr val="2633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F1 mere </a:t>
            </a:r>
            <a:r>
              <a:rPr lang="en-US" sz="1200" dirty="0" err="1">
                <a:solidFill>
                  <a:srgbClr val="2633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200" dirty="0">
                <a:solidFill>
                  <a:srgbClr val="2633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AUC-a, </a:t>
            </a:r>
            <a:r>
              <a:rPr lang="en-US" sz="1200" dirty="0" err="1">
                <a:solidFill>
                  <a:srgbClr val="2633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</a:t>
            </a:r>
            <a:r>
              <a:rPr lang="en-US" sz="1200" dirty="0">
                <a:solidFill>
                  <a:srgbClr val="2633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solidFill>
                  <a:srgbClr val="2633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čemu</a:t>
            </a:r>
            <a:r>
              <a:rPr lang="en-US" sz="1200" dirty="0">
                <a:solidFill>
                  <a:srgbClr val="2633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je F1 </a:t>
            </a:r>
            <a:r>
              <a:rPr lang="en-US" sz="1200" dirty="0" err="1">
                <a:solidFill>
                  <a:srgbClr val="2633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mera</a:t>
            </a:r>
            <a:r>
              <a:rPr lang="en-US" sz="1200" dirty="0">
                <a:solidFill>
                  <a:srgbClr val="2633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r-Latn-RS" sz="1200" dirty="0">
                <a:solidFill>
                  <a:srgbClr val="2633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uzeta kao najznačanije merilo kvaliteta</a:t>
            </a:r>
            <a:r>
              <a:rPr lang="en-US" sz="1200" dirty="0">
                <a:solidFill>
                  <a:srgbClr val="2633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1" name="TextBox 502"/>
          <p:cNvSpPr txBox="1"/>
          <p:nvPr/>
        </p:nvSpPr>
        <p:spPr>
          <a:xfrm>
            <a:off x="10515600" y="6400800"/>
            <a:ext cx="112471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dirty="0">
                <a:solidFill>
                  <a:srgbClr val="667585"/>
                </a:solidFill>
                <a:latin typeface="Calibri"/>
                <a:cs typeface="Calibri"/>
              </a:rPr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Box 238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2000" b="1" dirty="0">
                <a:solidFill>
                  <a:srgbClr val="16283F"/>
                </a:solidFill>
                <a:latin typeface="Calibri"/>
                <a:cs typeface="Calibri"/>
              </a:rPr>
              <a:t>Preprilagođavanje bez regularizacije</a:t>
            </a:r>
          </a:p>
        </p:txBody>
      </p:sp>
      <p:sp>
        <p:nvSpPr>
          <p:cNvPr id="239" name="Rect 240"/>
          <p:cNvSpPr/>
          <p:nvPr/>
        </p:nvSpPr>
        <p:spPr>
          <a:xfrm>
            <a:off x="548640" y="786384"/>
            <a:ext cx="11091672" cy="10973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txBody>
          <a:bodyPr/>
          <a:lstStyle/>
          <a:p>
            <a:endParaRPr/>
          </a:p>
        </p:txBody>
      </p:sp>
      <p:graphicFrame>
        <p:nvGraphicFramePr>
          <p:cNvPr id="241" name="Tabela 2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330056"/>
              </p:ext>
            </p:extLst>
          </p:nvPr>
        </p:nvGraphicFramePr>
        <p:xfrm>
          <a:off x="1191504" y="4621577"/>
          <a:ext cx="4023360" cy="1916383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046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model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trening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validacija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Logistička regresija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0,881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0,884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SVM (RBF)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1,000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0,816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KNN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1,000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0,857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Slučajna šuma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1,000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0,871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AdaBoost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1,000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0,816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XGBoost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1,000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0,898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3" name="TextBox 244"/>
          <p:cNvSpPr txBox="1"/>
          <p:nvPr/>
        </p:nvSpPr>
        <p:spPr>
          <a:xfrm>
            <a:off x="548640" y="1123122"/>
            <a:ext cx="5394960" cy="3017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sr-Latn-R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Svih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šest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algoritama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prvo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r-Latn-R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je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istrenira</a:t>
            </a:r>
            <a:r>
              <a:rPr lang="sr-Latn-R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ekstremnoj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neregularizovanoj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varijanti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vidi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sr-Latn-R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koliko se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svaki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oslanja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pamćenje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trening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podataka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umesto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opštu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pravilnost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sr-Latn-R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Logistička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regresija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(bez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kazne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C = ∞)</a:t>
            </a:r>
            <a:r>
              <a:rPr lang="sr-Latn-R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trening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0,881,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validacija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0,884. </a:t>
            </a:r>
            <a:r>
              <a:rPr lang="sr-Latn-R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Nema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preprilagođavanja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jer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je model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linearan</a:t>
            </a:r>
            <a:r>
              <a:rPr lang="sr-Latn-R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0"/>
            <a:endParaRPr lang="sr-Latn-R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SVM 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ogromno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C) </a:t>
            </a:r>
            <a:r>
              <a:rPr lang="sr-Latn-R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trening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1,00,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validacija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0,816.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Najveći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pad, model je u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potpunosti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zapamtio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trening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skup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sr-Latn-R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AdaBoost</a:t>
            </a:r>
            <a:r>
              <a:rPr lang="sr-Latn-R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trening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1,00,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validacija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0,816. Isti pad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kao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SVM.</a:t>
            </a:r>
            <a:endParaRPr lang="sr-Latn-R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KNN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(k = 1) </a:t>
            </a:r>
            <a:r>
              <a:rPr lang="sr-Latn-R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trening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1,00,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validacija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0,857.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Svaka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trening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instanca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je sama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sebi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sused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pa je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tačnost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treningu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savršena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po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definiciji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sr-Latn-R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Slučajna</a:t>
            </a:r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šuma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neograničena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dubina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sr-Latn-R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trening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1,00,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validacija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0,871.</a:t>
            </a:r>
            <a:endParaRPr lang="sr-Latn-R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duboka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stabla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sr-Latn-R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trening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1,00,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validacija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0,898.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Najmanji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pad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među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modelima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koji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dostigli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tačnost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1,00.</a:t>
            </a:r>
            <a:endParaRPr lang="sr-Latn-R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03" name="Slika 5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728" y="1462912"/>
            <a:ext cx="6037424" cy="3932175"/>
          </a:xfrm>
          <a:prstGeom prst="rect">
            <a:avLst/>
          </a:prstGeom>
        </p:spPr>
      </p:pic>
      <p:sp>
        <p:nvSpPr>
          <p:cNvPr id="505" name="TextBox 506"/>
          <p:cNvSpPr txBox="1"/>
          <p:nvPr/>
        </p:nvSpPr>
        <p:spPr>
          <a:xfrm>
            <a:off x="10515600" y="6400800"/>
            <a:ext cx="112471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dirty="0">
                <a:solidFill>
                  <a:srgbClr val="667585"/>
                </a:solidFill>
                <a:latin typeface="Calibri"/>
                <a:cs typeface="Calibri"/>
              </a:rPr>
              <a:t>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extBox 248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2000" b="1" dirty="0">
                <a:solidFill>
                  <a:srgbClr val="16283F"/>
                </a:solidFill>
                <a:latin typeface="Calibri"/>
                <a:cs typeface="Calibri"/>
              </a:rPr>
              <a:t>Izbor metaparametara na validacionom skupu</a:t>
            </a:r>
          </a:p>
        </p:txBody>
      </p:sp>
      <p:sp>
        <p:nvSpPr>
          <p:cNvPr id="249" name="Rect 250"/>
          <p:cNvSpPr/>
          <p:nvPr/>
        </p:nvSpPr>
        <p:spPr>
          <a:xfrm>
            <a:off x="548640" y="786384"/>
            <a:ext cx="11091672" cy="10973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1" name="TextBox 252"/>
          <p:cNvSpPr txBox="1"/>
          <p:nvPr/>
        </p:nvSpPr>
        <p:spPr>
          <a:xfrm>
            <a:off x="548640" y="1051560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Za svaku vrednost (kombinaciju) metaparametara model se trenira na 587 instanci i ocenjuje na validacionom skupu od 147 instanci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Kriterijum izbora je F1 mera pamti se najbolji rezultat i vrednosti za koje je dobijen</a:t>
            </a:r>
          </a:p>
        </p:txBody>
      </p:sp>
      <p:graphicFrame>
        <p:nvGraphicFramePr>
          <p:cNvPr id="253" name="Tabela 2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692422"/>
              </p:ext>
            </p:extLst>
          </p:nvPr>
        </p:nvGraphicFramePr>
        <p:xfrm>
          <a:off x="548639" y="1874519"/>
          <a:ext cx="5613621" cy="1632004"/>
        </p:xfrm>
        <a:graphic>
          <a:graphicData uri="http://schemas.openxmlformats.org/drawingml/2006/table">
            <a:tbl>
              <a:tblPr/>
              <a:tblGrid>
                <a:gridCol w="17727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5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800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model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+mn-lt"/>
                          <a:cs typeface="Calibri"/>
                        </a:rPr>
                        <a:t>metaparametri</a:t>
                      </a:r>
                      <a:endParaRPr lang="sr-Latn-RS"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F1 (validacija)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00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Logistička regresija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C = 1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0,902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00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SVM (RBF)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C = 1, gamma = 0,1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0,909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00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KNN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k = 3, weights = uniform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0,908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7" name="TextBox 258"/>
          <p:cNvSpPr txBox="1"/>
          <p:nvPr/>
        </p:nvSpPr>
        <p:spPr>
          <a:xfrm>
            <a:off x="548640" y="4206240"/>
            <a:ext cx="11091672" cy="2103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sr-Latn-RS" sz="1200" b="1" dirty="0">
                <a:solidFill>
                  <a:srgbClr val="26333F"/>
                </a:solidFill>
                <a:latin typeface="Calibri"/>
                <a:cs typeface="Calibri"/>
              </a:rPr>
              <a:t>Logistička regresija:</a:t>
            </a: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 za C = 1 model je praktično isti kao model bez kazne, pa regularizacija ovde ne menja rezultat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sr-Latn-RS" sz="1200" b="1" dirty="0">
                <a:solidFill>
                  <a:srgbClr val="26333F"/>
                </a:solidFill>
                <a:latin typeface="Calibri"/>
                <a:cs typeface="Calibri"/>
              </a:rPr>
              <a:t>SVM:</a:t>
            </a: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 C = 1 dozvoljava greške na treningu (šira margina), a gamma = 0,1 daje blažu granicu odlučivanja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sr-Latn-RS" sz="1200" b="1" dirty="0">
                <a:solidFill>
                  <a:srgbClr val="26333F"/>
                </a:solidFill>
                <a:latin typeface="Calibri"/>
                <a:cs typeface="Calibri"/>
              </a:rPr>
              <a:t>KNN:</a:t>
            </a: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 k = 3 umesto k = 1, odluka se donosi glasanjem tri najbliža suseda, pa je model manje osetljiv na pojedinačne instance</a:t>
            </a:r>
          </a:p>
        </p:txBody>
      </p:sp>
      <p:sp>
        <p:nvSpPr>
          <p:cNvPr id="507" name="TextBox 508"/>
          <p:cNvSpPr txBox="1"/>
          <p:nvPr/>
        </p:nvSpPr>
        <p:spPr>
          <a:xfrm>
            <a:off x="10515600" y="6400800"/>
            <a:ext cx="112471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dirty="0">
                <a:solidFill>
                  <a:srgbClr val="667585"/>
                </a:solidFill>
                <a:latin typeface="Calibri"/>
                <a:cs typeface="Calibri"/>
              </a:rPr>
              <a:t>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TextBox 260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2000" b="1" dirty="0">
                <a:solidFill>
                  <a:srgbClr val="16283F"/>
                </a:solidFill>
                <a:latin typeface="Calibri"/>
                <a:cs typeface="Calibri"/>
              </a:rPr>
              <a:t>Izbor metaparametara unakrsnom validacijom</a:t>
            </a:r>
          </a:p>
        </p:txBody>
      </p:sp>
      <p:sp>
        <p:nvSpPr>
          <p:cNvPr id="261" name="Rect 262"/>
          <p:cNvSpPr/>
          <p:nvPr/>
        </p:nvSpPr>
        <p:spPr>
          <a:xfrm>
            <a:off x="548640" y="786384"/>
            <a:ext cx="11091672" cy="10973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3" name="TextBox 264"/>
          <p:cNvSpPr txBox="1"/>
          <p:nvPr/>
        </p:nvSpPr>
        <p:spPr>
          <a:xfrm>
            <a:off x="548640" y="1051560"/>
            <a:ext cx="11091672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Validacioni skup od 147 instanci je mali, pa ocena na njemu ne mora biti pouzdana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Za ansamble je korišćen unakrsna validacija nad 734 instance (treniranje + validacija)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Svaka kombinacija se ocenjuje prosečnom F1 merom kroz 10 slojeva </a:t>
            </a:r>
          </a:p>
        </p:txBody>
      </p:sp>
      <p:graphicFrame>
        <p:nvGraphicFramePr>
          <p:cNvPr id="265" name="Tabela 2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094763"/>
              </p:ext>
            </p:extLst>
          </p:nvPr>
        </p:nvGraphicFramePr>
        <p:xfrm>
          <a:off x="548640" y="2103120"/>
          <a:ext cx="5623560" cy="1642464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model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metaparametri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F1 (cv = 10)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Slučajna šuma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max_depth = None, min_samples_leaf = 1, max_features = sqrt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0,886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AdaBoost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max_depth = 2, n_estimators = 100, learning_rate = 0,1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0,888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XGBoost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max_depth = 5, learning_rate = 0,1, reg_lambda = 20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0,888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9" name="TextBox 270"/>
          <p:cNvSpPr txBox="1"/>
          <p:nvPr/>
        </p:nvSpPr>
        <p:spPr>
          <a:xfrm>
            <a:off x="548640" y="4351351"/>
            <a:ext cx="11091672" cy="182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sr-Latn-RS" sz="1200" b="1" dirty="0">
                <a:solidFill>
                  <a:srgbClr val="26333F"/>
                </a:solidFill>
                <a:latin typeface="Calibri"/>
                <a:cs typeface="Calibri"/>
              </a:rPr>
              <a:t>Slučajna šuma:</a:t>
            </a: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 pri svakoj podeli razmatra se samo deo atributa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sr-Latn-RS" sz="1200" b="1" dirty="0">
                <a:solidFill>
                  <a:srgbClr val="26333F"/>
                </a:solidFill>
                <a:latin typeface="Calibri"/>
                <a:cs typeface="Calibri"/>
              </a:rPr>
              <a:t>AdaBoost:</a:t>
            </a: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 plitka bazna stabla (dubina 2) i manji korak učenja (0,1)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sr-Latn-RS" sz="1200" b="1" dirty="0">
                <a:solidFill>
                  <a:srgbClr val="26333F"/>
                </a:solidFill>
                <a:latin typeface="Calibri"/>
                <a:cs typeface="Calibri"/>
              </a:rPr>
              <a:t>XGBoost:</a:t>
            </a: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 jaka l2 kazna nad težinama listova i ograničena dubina stabala (5)</a:t>
            </a:r>
          </a:p>
        </p:txBody>
      </p:sp>
      <p:sp>
        <p:nvSpPr>
          <p:cNvPr id="509" name="TextBox 510"/>
          <p:cNvSpPr txBox="1"/>
          <p:nvPr/>
        </p:nvSpPr>
        <p:spPr>
          <a:xfrm>
            <a:off x="10515600" y="6400800"/>
            <a:ext cx="112471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dirty="0">
                <a:solidFill>
                  <a:srgbClr val="667585"/>
                </a:solidFill>
                <a:latin typeface="Calibri"/>
                <a:cs typeface="Calibri"/>
              </a:rPr>
              <a:t>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TextBox 272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2000" b="1" dirty="0">
                <a:solidFill>
                  <a:srgbClr val="16283F"/>
                </a:solidFill>
                <a:latin typeface="Calibri"/>
                <a:cs typeface="Calibri"/>
              </a:rPr>
              <a:t>Poređenje modela bez i sa regularizacijom</a:t>
            </a:r>
          </a:p>
        </p:txBody>
      </p:sp>
      <p:sp>
        <p:nvSpPr>
          <p:cNvPr id="273" name="Rect 274"/>
          <p:cNvSpPr/>
          <p:nvPr/>
        </p:nvSpPr>
        <p:spPr>
          <a:xfrm>
            <a:off x="548640" y="786384"/>
            <a:ext cx="11091672" cy="10973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txBody>
          <a:bodyPr/>
          <a:lstStyle/>
          <a:p>
            <a:endParaRPr/>
          </a:p>
        </p:txBody>
      </p:sp>
      <p:graphicFrame>
        <p:nvGraphicFramePr>
          <p:cNvPr id="277" name="Tabela 2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4807430"/>
              </p:ext>
            </p:extLst>
          </p:nvPr>
        </p:nvGraphicFramePr>
        <p:xfrm>
          <a:off x="548640" y="1260282"/>
          <a:ext cx="5394960" cy="192024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model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tačnost bez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tačnost sa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F1 bez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F1 sa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Logistička regresija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0,879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0,879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0,893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0,893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SVM (RBF)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0,800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16283F"/>
                          </a:solidFill>
                          <a:latin typeface="Calibri"/>
                          <a:cs typeface="Calibri"/>
                        </a:rPr>
                        <a:t>0,875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0,818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0,890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KNN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0,838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0,866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0,852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0,882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Slučajna šuma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0,845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0,871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0,863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0,886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AdaBoost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0,764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16283F"/>
                          </a:solidFill>
                          <a:latin typeface="Calibri"/>
                          <a:cs typeface="Calibri"/>
                        </a:rPr>
                        <a:t>0,872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0,785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0,888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XGBoost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0,843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0,873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0,861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0,888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79" name="TextBox 280"/>
          <p:cNvSpPr txBox="1"/>
          <p:nvPr/>
        </p:nvSpPr>
        <p:spPr>
          <a:xfrm>
            <a:off x="548640" y="3677478"/>
            <a:ext cx="5394960" cy="23774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Logistička regresija: bez razlike, jer je izabrano C = 1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Posle regularizacije svi modeli imaju tačnost između 0,866 i 0,879</a:t>
            </a:r>
          </a:p>
        </p:txBody>
      </p:sp>
      <p:pic>
        <p:nvPicPr>
          <p:cNvPr id="511" name="Slika 5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7562" y="1839460"/>
            <a:ext cx="5593394" cy="3676037"/>
          </a:xfrm>
          <a:prstGeom prst="rect">
            <a:avLst/>
          </a:prstGeom>
        </p:spPr>
      </p:pic>
      <p:sp>
        <p:nvSpPr>
          <p:cNvPr id="513" name="TextBox 514"/>
          <p:cNvSpPr txBox="1"/>
          <p:nvPr/>
        </p:nvSpPr>
        <p:spPr>
          <a:xfrm>
            <a:off x="10515600" y="6400800"/>
            <a:ext cx="112471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dirty="0">
                <a:solidFill>
                  <a:srgbClr val="667585"/>
                </a:solidFill>
                <a:latin typeface="Calibri"/>
                <a:cs typeface="Calibri"/>
              </a:rPr>
              <a:t>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TextBox 284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2000" b="1" dirty="0">
                <a:solidFill>
                  <a:srgbClr val="16283F"/>
                </a:solidFill>
                <a:latin typeface="Calibri"/>
                <a:cs typeface="Calibri"/>
              </a:rPr>
              <a:t>Neuronska mreža početna arhitektura</a:t>
            </a:r>
          </a:p>
        </p:txBody>
      </p:sp>
      <p:sp>
        <p:nvSpPr>
          <p:cNvPr id="285" name="Rect 286"/>
          <p:cNvSpPr/>
          <p:nvPr/>
        </p:nvSpPr>
        <p:spPr>
          <a:xfrm>
            <a:off x="548640" y="786384"/>
            <a:ext cx="11091672" cy="10973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7" name="TextBox 288"/>
          <p:cNvSpPr txBox="1"/>
          <p:nvPr/>
        </p:nvSpPr>
        <p:spPr>
          <a:xfrm>
            <a:off x="548640" y="105156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b="1" dirty="0">
                <a:solidFill>
                  <a:srgbClr val="16283F"/>
                </a:solidFill>
                <a:latin typeface="Calibri"/>
                <a:cs typeface="Calibri"/>
              </a:rPr>
              <a:t>Arhitektura</a:t>
            </a:r>
          </a:p>
        </p:txBody>
      </p:sp>
      <p:graphicFrame>
        <p:nvGraphicFramePr>
          <p:cNvPr id="289" name="Tabela 2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3605430"/>
              </p:ext>
            </p:extLst>
          </p:nvPr>
        </p:nvGraphicFramePr>
        <p:xfrm>
          <a:off x="548640" y="1371600"/>
          <a:ext cx="3931920" cy="1097280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sloj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izlazni oblik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aktivacija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Dense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(None, 100)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ReLU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Dense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(None, 40)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ReLU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Dense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(None, 1)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sigmoid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91" name="TextBox 292"/>
          <p:cNvSpPr txBox="1"/>
          <p:nvPr/>
        </p:nvSpPr>
        <p:spPr>
          <a:xfrm>
            <a:off x="548640" y="2926080"/>
            <a:ext cx="5394960" cy="1645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Na ulazu imamo 16 atributa, a izlaz predstavlja jedan neuron sa sigmoidnom aktivacijom 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Funkcija greške: BinaryCrossentropy; optimizator: Adam (learning_rate = 0,001)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Treniranje: 100 epoha, batch_size = 32, praćenje na validacionom skupu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cs typeface="Calibri"/>
              </a:rPr>
              <a:t>Mreža ima 5 781 parametar, a skup za treniranje samo 587 instanci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cs typeface="Calibri"/>
              </a:rPr>
              <a:t>Greška na treningu stalno opada, a tačnost ide ka 1,00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cs typeface="Calibri"/>
              </a:rPr>
              <a:t>Greška na validacionom skupu već posle prvih epoha počinje da raste, a tačnost pada na oko 0,84 što znači da dolazi do preprilagođavanje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endParaRPr lang="sr-Latn-RS" sz="1200" dirty="0">
              <a:solidFill>
                <a:srgbClr val="26333F"/>
              </a:solidFill>
              <a:latin typeface="Calibri"/>
              <a:cs typeface="Calibri"/>
            </a:endParaRPr>
          </a:p>
        </p:txBody>
      </p:sp>
      <p:pic>
        <p:nvPicPr>
          <p:cNvPr id="515" name="Slika 5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109" y="1051560"/>
            <a:ext cx="2993446" cy="2286000"/>
          </a:xfrm>
          <a:prstGeom prst="rect">
            <a:avLst/>
          </a:prstGeom>
        </p:spPr>
      </p:pic>
      <p:pic>
        <p:nvPicPr>
          <p:cNvPr id="517" name="Slika 5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594" y="3703320"/>
            <a:ext cx="3088476" cy="2286000"/>
          </a:xfrm>
          <a:prstGeom prst="rect">
            <a:avLst/>
          </a:prstGeom>
        </p:spPr>
      </p:pic>
      <p:sp>
        <p:nvSpPr>
          <p:cNvPr id="519" name="TextBox 520"/>
          <p:cNvSpPr txBox="1"/>
          <p:nvPr/>
        </p:nvSpPr>
        <p:spPr>
          <a:xfrm>
            <a:off x="10515600" y="6400800"/>
            <a:ext cx="112471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dirty="0">
                <a:solidFill>
                  <a:srgbClr val="667585"/>
                </a:solidFill>
                <a:latin typeface="Calibri"/>
                <a:cs typeface="Calibri"/>
              </a:rPr>
              <a:t>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TextBox 302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2000" b="1" dirty="0">
                <a:solidFill>
                  <a:srgbClr val="16283F"/>
                </a:solidFill>
                <a:latin typeface="Calibri"/>
                <a:cs typeface="Calibri"/>
              </a:rPr>
              <a:t>Izbor arhitekture neuronske mreže</a:t>
            </a:r>
          </a:p>
        </p:txBody>
      </p:sp>
      <p:sp>
        <p:nvSpPr>
          <p:cNvPr id="303" name="Rect 304"/>
          <p:cNvSpPr/>
          <p:nvPr/>
        </p:nvSpPr>
        <p:spPr>
          <a:xfrm>
            <a:off x="548640" y="786384"/>
            <a:ext cx="11091672" cy="10973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5" name="TextBox 306"/>
          <p:cNvSpPr txBox="1"/>
          <p:nvPr/>
        </p:nvSpPr>
        <p:spPr>
          <a:xfrm>
            <a:off x="548640" y="1051560"/>
            <a:ext cx="5394960" cy="10972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Poređeno je pet arhitektura: [8], [16], [32, 16], [64, 32], [100, 40]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sv-SE" sz="1200" dirty="0">
                <a:solidFill>
                  <a:srgbClr val="26333F"/>
                </a:solidFill>
                <a:latin typeface="Calibri"/>
                <a:cs typeface="Calibri"/>
              </a:rPr>
              <a:t>Svi modeli koriste ReLU aktivaciju u skrivenim slojevima i sigmoidnu na izlazu, optimizator Adam, i treniraju se u 100 epoha sa veličinom paketa od 32 instance.</a:t>
            </a:r>
            <a:endParaRPr lang="sr-Latn-RS" sz="1200" dirty="0">
              <a:solidFill>
                <a:srgbClr val="26333F"/>
              </a:solidFill>
              <a:latin typeface="Calibri"/>
              <a:cs typeface="Calibri"/>
            </a:endParaRPr>
          </a:p>
        </p:txBody>
      </p:sp>
      <p:graphicFrame>
        <p:nvGraphicFramePr>
          <p:cNvPr id="307" name="Tabela 30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7572"/>
              </p:ext>
            </p:extLst>
          </p:nvPr>
        </p:nvGraphicFramePr>
        <p:xfrm>
          <a:off x="548640" y="2148840"/>
          <a:ext cx="4114800" cy="16459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arhitektura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trening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validacija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[8]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0,886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0,871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[16]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0,905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16283F"/>
                          </a:solidFill>
                          <a:latin typeface="Calibri"/>
                          <a:cs typeface="Calibri"/>
                        </a:rPr>
                        <a:t>0,878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[32, 16]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0,964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0,830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[64, 32]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0,998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0,844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[100, 40]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1,000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0,850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9" name="TextBox 310"/>
          <p:cNvSpPr txBox="1"/>
          <p:nvPr/>
        </p:nvSpPr>
        <p:spPr>
          <a:xfrm>
            <a:off x="548640" y="4023360"/>
            <a:ext cx="5394960" cy="2286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Što je mreža veća, tačnost na treningu je veća: sa 0,886 na 1,000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Najbolja tačnost na validacionom skupu: </a:t>
            </a:r>
            <a:r>
              <a:rPr lang="sr-Latn-RS" sz="1200" b="1" dirty="0">
                <a:solidFill>
                  <a:srgbClr val="26333F"/>
                </a:solidFill>
                <a:latin typeface="Calibri"/>
                <a:cs typeface="Calibri"/>
              </a:rPr>
              <a:t>[16]</a:t>
            </a: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 – jedan skriveni sloj sa 16 neurona (0,878)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Sa 587 instanci za treniranje velike mreže uče trening skup napamet</a:t>
            </a:r>
          </a:p>
        </p:txBody>
      </p:sp>
      <p:pic>
        <p:nvPicPr>
          <p:cNvPr id="521" name="Slika 5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817" y="1668615"/>
            <a:ext cx="5394960" cy="3497745"/>
          </a:xfrm>
          <a:prstGeom prst="rect">
            <a:avLst/>
          </a:prstGeom>
        </p:spPr>
      </p:pic>
      <p:sp>
        <p:nvSpPr>
          <p:cNvPr id="523" name="TextBox 524"/>
          <p:cNvSpPr txBox="1"/>
          <p:nvPr/>
        </p:nvSpPr>
        <p:spPr>
          <a:xfrm>
            <a:off x="10515600" y="6400800"/>
            <a:ext cx="112471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dirty="0">
                <a:solidFill>
                  <a:srgbClr val="667585"/>
                </a:solidFill>
                <a:latin typeface="Calibri"/>
                <a:cs typeface="Calibri"/>
              </a:rPr>
              <a:t>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TextBox 314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b="1" dirty="0">
                <a:solidFill>
                  <a:srgbClr val="16283F"/>
                </a:solidFill>
                <a:latin typeface="Calibri"/>
                <a:cs typeface="Calibri"/>
              </a:rPr>
              <a:t>Regularizacija neuronske mreže arhitektura [32, 16]</a:t>
            </a:r>
          </a:p>
        </p:txBody>
      </p:sp>
      <p:sp>
        <p:nvSpPr>
          <p:cNvPr id="315" name="Rect 316"/>
          <p:cNvSpPr/>
          <p:nvPr/>
        </p:nvSpPr>
        <p:spPr>
          <a:xfrm>
            <a:off x="548640" y="786384"/>
            <a:ext cx="11091672" cy="10973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7" name="TextBox 318"/>
          <p:cNvSpPr txBox="1"/>
          <p:nvPr/>
        </p:nvSpPr>
        <p:spPr>
          <a:xfrm>
            <a:off x="548640" y="1051560"/>
            <a:ext cx="5394960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Četiri varijante pod istim uslovima:</a:t>
            </a:r>
          </a:p>
          <a:p>
            <a:pPr marL="4572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–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bez regularizacije</a:t>
            </a:r>
          </a:p>
          <a:p>
            <a:pPr marL="4572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–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Dropout posle svakog skrivenog sloja, tokom treniranja isključuje se 30% neurona</a:t>
            </a:r>
          </a:p>
          <a:p>
            <a:pPr marL="4572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–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l2 kazna na oba skrivena sloja</a:t>
            </a:r>
          </a:p>
          <a:p>
            <a:pPr marL="4572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–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Dropout i l2 kazna zajedno</a:t>
            </a:r>
          </a:p>
        </p:txBody>
      </p:sp>
      <p:graphicFrame>
        <p:nvGraphicFramePr>
          <p:cNvPr id="319" name="Tabela 3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751615"/>
              </p:ext>
            </p:extLst>
          </p:nvPr>
        </p:nvGraphicFramePr>
        <p:xfrm>
          <a:off x="548640" y="2621943"/>
          <a:ext cx="4206240" cy="13716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varijanta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trening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validacija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bez regularizacije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0,969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0,837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Dropout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0,920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0,871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l2 kazna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0,922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0,844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Dropout i l2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0,906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0,871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1" name="TextBox 322"/>
          <p:cNvSpPr txBox="1"/>
          <p:nvPr/>
        </p:nvSpPr>
        <p:spPr>
          <a:xfrm>
            <a:off x="548640" y="4343400"/>
            <a:ext cx="5394960" cy="2011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Dropout podiže tačnost na validaciji sa 0,837 na 0,871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Tačnost na treningu pada sa 0,969 na 0,906 tj. model manje pamti trening skup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Izabrana je varijanta </a:t>
            </a:r>
            <a:r>
              <a:rPr lang="sr-Latn-RS" sz="1200" b="1" dirty="0">
                <a:solidFill>
                  <a:srgbClr val="26333F"/>
                </a:solidFill>
                <a:latin typeface="Calibri"/>
                <a:cs typeface="Calibri"/>
              </a:rPr>
              <a:t>Dropout i l2</a:t>
            </a: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, jer ima najmanju razliku između treninga i validacije (0,036)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cs typeface="Calibri"/>
              </a:rPr>
              <a:t>Bez regularizacije gubitak na validaciji posle nekog broja epoha raste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cs typeface="Calibri"/>
              </a:rPr>
              <a:t>Kod regularizovanih varijanti rast je zaustavljen ili znatno usporen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endParaRPr lang="sr-Latn-RS" sz="1200" dirty="0">
              <a:solidFill>
                <a:srgbClr val="26333F"/>
              </a:solidFill>
              <a:latin typeface="Calibri"/>
              <a:cs typeface="Calibri"/>
            </a:endParaRPr>
          </a:p>
        </p:txBody>
      </p:sp>
      <p:pic>
        <p:nvPicPr>
          <p:cNvPr id="525" name="Slika 5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920240"/>
            <a:ext cx="5394960" cy="3142968"/>
          </a:xfrm>
          <a:prstGeom prst="rect">
            <a:avLst/>
          </a:prstGeom>
        </p:spPr>
      </p:pic>
      <p:sp>
        <p:nvSpPr>
          <p:cNvPr id="527" name="TextBox 528"/>
          <p:cNvSpPr txBox="1"/>
          <p:nvPr/>
        </p:nvSpPr>
        <p:spPr>
          <a:xfrm>
            <a:off x="10515600" y="6400800"/>
            <a:ext cx="112471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dirty="0">
                <a:solidFill>
                  <a:srgbClr val="667585"/>
                </a:solidFill>
                <a:latin typeface="Calibri"/>
                <a:cs typeface="Calibri"/>
              </a:rPr>
              <a:t>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TextBox 328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2000" b="1" dirty="0">
                <a:solidFill>
                  <a:srgbClr val="16283F"/>
                </a:solidFill>
                <a:latin typeface="Calibri"/>
                <a:cs typeface="Calibri"/>
              </a:rPr>
              <a:t>Konačna neuronska mreža na skupu za testiranje</a:t>
            </a:r>
          </a:p>
        </p:txBody>
      </p:sp>
      <p:sp>
        <p:nvSpPr>
          <p:cNvPr id="329" name="Rect 330"/>
          <p:cNvSpPr/>
          <p:nvPr/>
        </p:nvSpPr>
        <p:spPr>
          <a:xfrm>
            <a:off x="548640" y="786384"/>
            <a:ext cx="11091672" cy="10973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3" name="TextBox 334"/>
          <p:cNvSpPr txBox="1"/>
          <p:nvPr/>
        </p:nvSpPr>
        <p:spPr>
          <a:xfrm>
            <a:off x="548640" y="105156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b="1" dirty="0">
                <a:solidFill>
                  <a:srgbClr val="16283F"/>
                </a:solidFill>
                <a:latin typeface="Calibri"/>
                <a:cs typeface="Calibri"/>
              </a:rPr>
              <a:t>Gubitak i tačnost </a:t>
            </a:r>
          </a:p>
        </p:txBody>
      </p:sp>
      <p:graphicFrame>
        <p:nvGraphicFramePr>
          <p:cNvPr id="335" name="Tabela 3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8915209"/>
              </p:ext>
            </p:extLst>
          </p:nvPr>
        </p:nvGraphicFramePr>
        <p:xfrm>
          <a:off x="548640" y="1371600"/>
          <a:ext cx="5394960" cy="8229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skup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gubitak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tačnost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treniranje (734)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0,301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0,911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testiranje (184)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0,342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16283F"/>
                          </a:solidFill>
                          <a:latin typeface="Calibri"/>
                          <a:cs typeface="Calibri"/>
                        </a:rPr>
                        <a:t>0,875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37" name="TextBox 338"/>
          <p:cNvSpPr txBox="1"/>
          <p:nvPr/>
        </p:nvSpPr>
        <p:spPr>
          <a:xfrm>
            <a:off x="548640" y="2734056"/>
            <a:ext cx="5394960" cy="2011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Od 102 bolesna pacijenta mreža prepoznaje 93, a 9 pogrešno klasifikuje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Od 82 zdrava pacijenta 14 je pogrešno označeno kao bolesno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Razlika u tačnosti između treninga i testa je 0,036</a:t>
            </a:r>
          </a:p>
        </p:txBody>
      </p:sp>
      <p:sp>
        <p:nvSpPr>
          <p:cNvPr id="339" name="TextBox 340"/>
          <p:cNvSpPr txBox="1"/>
          <p:nvPr/>
        </p:nvSpPr>
        <p:spPr>
          <a:xfrm>
            <a:off x="6245352" y="105156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b="1" dirty="0">
                <a:solidFill>
                  <a:srgbClr val="16283F"/>
                </a:solidFill>
                <a:latin typeface="Calibri"/>
                <a:cs typeface="Calibri"/>
              </a:rPr>
              <a:t>Klasifikacioni izveštaj</a:t>
            </a:r>
          </a:p>
        </p:txBody>
      </p:sp>
      <p:graphicFrame>
        <p:nvGraphicFramePr>
          <p:cNvPr id="341" name="Tabela 342"/>
          <p:cNvGraphicFramePr>
            <a:graphicFrameLocks noGrp="1"/>
          </p:cNvGraphicFramePr>
          <p:nvPr/>
        </p:nvGraphicFramePr>
        <p:xfrm>
          <a:off x="6245352" y="1371600"/>
          <a:ext cx="5394960" cy="16459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klasa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preciznost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odziv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F1 mera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broj instanci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 (zdravi)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0,88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0,83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0,86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82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1 (bolesni)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0,87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0,91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0,89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102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tačnost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 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 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0,88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184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macro avg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0,88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0,87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0,87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184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weighted avg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0,88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0,88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0,87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184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43" name="TextBox 344"/>
          <p:cNvSpPr txBox="1"/>
          <p:nvPr/>
        </p:nvSpPr>
        <p:spPr>
          <a:xfrm>
            <a:off x="699516" y="3877056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b="1" dirty="0">
                <a:solidFill>
                  <a:srgbClr val="16283F"/>
                </a:solidFill>
                <a:latin typeface="Calibri"/>
                <a:cs typeface="Calibri"/>
              </a:rPr>
              <a:t>Matrica konfuzije</a:t>
            </a:r>
          </a:p>
        </p:txBody>
      </p:sp>
      <p:graphicFrame>
        <p:nvGraphicFramePr>
          <p:cNvPr id="345" name="Tabela 3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716406"/>
              </p:ext>
            </p:extLst>
          </p:nvPr>
        </p:nvGraphicFramePr>
        <p:xfrm>
          <a:off x="699516" y="4251960"/>
          <a:ext cx="5394960" cy="98755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 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zdrav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bolestan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stvarno: zdrav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68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14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stvarno: bolestan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93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29" name="TextBox 530"/>
          <p:cNvSpPr txBox="1"/>
          <p:nvPr/>
        </p:nvSpPr>
        <p:spPr>
          <a:xfrm>
            <a:off x="10515600" y="6400800"/>
            <a:ext cx="112471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dirty="0">
                <a:solidFill>
                  <a:srgbClr val="667585"/>
                </a:solidFill>
                <a:latin typeface="Calibri"/>
                <a:cs typeface="Calibri"/>
              </a:rPr>
              <a:t>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TextBox 348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2000" b="1" dirty="0">
                <a:solidFill>
                  <a:srgbClr val="16283F"/>
                </a:solidFill>
                <a:latin typeface="Calibri"/>
                <a:cs typeface="Calibri"/>
              </a:rPr>
              <a:t>Svi klasični modeli na skupu za testiranje</a:t>
            </a:r>
          </a:p>
        </p:txBody>
      </p:sp>
      <p:sp>
        <p:nvSpPr>
          <p:cNvPr id="349" name="Rect 350"/>
          <p:cNvSpPr/>
          <p:nvPr/>
        </p:nvSpPr>
        <p:spPr>
          <a:xfrm>
            <a:off x="548640" y="786384"/>
            <a:ext cx="11091672" cy="10973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1" name="TextBox 352"/>
          <p:cNvSpPr txBox="1"/>
          <p:nvPr/>
        </p:nvSpPr>
        <p:spPr>
          <a:xfrm>
            <a:off x="548640" y="1051560"/>
            <a:ext cx="11091672" cy="731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Modeli su trenirani na 734 instance sa izabranim metaparametrima i ocenjeni na 184 instance test skupa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Test skup nije korišćen ni u jednom prethodnom koraku</a:t>
            </a:r>
          </a:p>
        </p:txBody>
      </p:sp>
      <p:sp>
        <p:nvSpPr>
          <p:cNvPr id="353" name="TextBox 354"/>
          <p:cNvSpPr txBox="1"/>
          <p:nvPr/>
        </p:nvSpPr>
        <p:spPr>
          <a:xfrm>
            <a:off x="548640" y="178308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b="1" dirty="0">
                <a:solidFill>
                  <a:srgbClr val="16283F"/>
                </a:solidFill>
                <a:latin typeface="Calibri"/>
                <a:cs typeface="Calibri"/>
              </a:rPr>
              <a:t>Bez regularizacije</a:t>
            </a:r>
          </a:p>
        </p:txBody>
      </p:sp>
      <p:graphicFrame>
        <p:nvGraphicFramePr>
          <p:cNvPr id="355" name="Tabela 35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761173"/>
              </p:ext>
            </p:extLst>
          </p:nvPr>
        </p:nvGraphicFramePr>
        <p:xfrm>
          <a:off x="548640" y="2103120"/>
          <a:ext cx="5349240" cy="192024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model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tačnost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preciznost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odziv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F1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AUC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Logistička regresija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0,842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0,854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0,863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0,859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0,927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SVM (RBF)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0,815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0,847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0,814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0,830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0,903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KNN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0,815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0,833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0,833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0,833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0,813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Slučajna šuma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0,864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0,860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0,902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0,880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0,937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AdaBoost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0,810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0,819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0,843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0,831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0,806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XGBoost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0,864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0,867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0,892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0,879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0,931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57" name="TextBox 358"/>
          <p:cNvSpPr txBox="1"/>
          <p:nvPr/>
        </p:nvSpPr>
        <p:spPr>
          <a:xfrm>
            <a:off x="6245352" y="178308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b="1" dirty="0">
                <a:solidFill>
                  <a:srgbClr val="16283F"/>
                </a:solidFill>
                <a:latin typeface="Calibri"/>
                <a:cs typeface="Calibri"/>
              </a:rPr>
              <a:t>Sa regularizacijom</a:t>
            </a:r>
          </a:p>
        </p:txBody>
      </p:sp>
      <p:graphicFrame>
        <p:nvGraphicFramePr>
          <p:cNvPr id="359" name="Tabela 3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025319"/>
              </p:ext>
            </p:extLst>
          </p:nvPr>
        </p:nvGraphicFramePr>
        <p:xfrm>
          <a:off x="6245352" y="2103120"/>
          <a:ext cx="5349240" cy="1920240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0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model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tačnost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preciznost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odziv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F1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AUC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Logistička regresija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0,842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0,854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0,863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0,859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0,928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SVM (RBF)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0,870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0,861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0,912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16283F"/>
                          </a:solidFill>
                          <a:latin typeface="Calibri"/>
                          <a:cs typeface="Calibri"/>
                        </a:rPr>
                        <a:t>0,886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0,939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KNN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0,853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0,857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0,882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0,870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0,907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Slučajna šuma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0,859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0,839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0,922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0,879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0,948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AdaBoost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0,864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0,847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0,922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0,883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0,944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XGBoost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0,864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0,881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0,873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0,877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0,948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61" name="TextBox 362"/>
          <p:cNvSpPr txBox="1"/>
          <p:nvPr/>
        </p:nvSpPr>
        <p:spPr>
          <a:xfrm>
            <a:off x="548640" y="4572000"/>
            <a:ext cx="11091672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Bez regularizacije najbolji su slučajna šuma (F1 0,880) i XGBoost (0,879), a najslabiji SVM (0,830)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Sa regularizacijom najbolji je SVM (F1 0,886), zatim AdaBoost (0,883)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Sa regularizacijom AUC je veći kod svih šest algoritama</a:t>
            </a:r>
          </a:p>
        </p:txBody>
      </p:sp>
      <p:sp>
        <p:nvSpPr>
          <p:cNvPr id="531" name="TextBox 532"/>
          <p:cNvSpPr txBox="1"/>
          <p:nvPr/>
        </p:nvSpPr>
        <p:spPr>
          <a:xfrm>
            <a:off x="10515600" y="6400800"/>
            <a:ext cx="112471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dirty="0">
                <a:solidFill>
                  <a:srgbClr val="667585"/>
                </a:solidFill>
                <a:latin typeface="Calibri"/>
                <a:cs typeface="Calibri"/>
              </a:rPr>
              <a:t>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TextBox 374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2000" b="1" dirty="0">
                <a:solidFill>
                  <a:srgbClr val="16283F"/>
                </a:solidFill>
                <a:latin typeface="Calibri"/>
                <a:cs typeface="Calibri"/>
              </a:rPr>
              <a:t>Konačno poređenje svih modela na skupu za testiranje</a:t>
            </a:r>
          </a:p>
        </p:txBody>
      </p:sp>
      <p:sp>
        <p:nvSpPr>
          <p:cNvPr id="375" name="Rect 376"/>
          <p:cNvSpPr/>
          <p:nvPr/>
        </p:nvSpPr>
        <p:spPr>
          <a:xfrm>
            <a:off x="548640" y="786384"/>
            <a:ext cx="11091672" cy="10973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txBody>
          <a:bodyPr/>
          <a:lstStyle/>
          <a:p>
            <a:endParaRPr/>
          </a:p>
        </p:txBody>
      </p:sp>
      <p:graphicFrame>
        <p:nvGraphicFramePr>
          <p:cNvPr id="377" name="Tabela 37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2170560"/>
              </p:ext>
            </p:extLst>
          </p:nvPr>
        </p:nvGraphicFramePr>
        <p:xfrm>
          <a:off x="548640" y="1051560"/>
          <a:ext cx="7589520" cy="41148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model (sortirano po F1)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tačnost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preciznost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odziv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F1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AUC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Neuronska mreža (sa)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0,875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0,869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0,912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0,890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0,946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SVM (RBF) (sa)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0,870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0,861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0,912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0,886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0,939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AdaBoost (sa)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0,864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0,847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0,922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0,883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0,944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Slučajna šuma (bez)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0,864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0,860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0,902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0,880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0,937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XGBoost (bez)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0,864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0,867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0,892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0,879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0,931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Slučajna šuma (sa)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0,859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0,839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0,922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0,879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0,948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XGBoost (sa)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0,864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0,881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0,873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0,877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0,948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Neuronska mreža (bez)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0,853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0,850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0,892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0,871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0,934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KNN (sa)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0,853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0,857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0,882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0,870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0,907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Logistička regresija (bez)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0,842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0,854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0,863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0,859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0,927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Logistička regresija (sa)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0,842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0,854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0,863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0,859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0,928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KNN (bez)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0,815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0,833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0,833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0,833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0,813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AdaBoost (bez)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0,810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0,819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0,843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0,831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0,806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SVM (RBF) (bez)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0,815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0,847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0,814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0,830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0,903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79" name="TextBox 380"/>
          <p:cNvSpPr txBox="1"/>
          <p:nvPr/>
        </p:nvSpPr>
        <p:spPr>
          <a:xfrm>
            <a:off x="8321040" y="1097280"/>
            <a:ext cx="3319272" cy="5212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Prva tri mesta: neuronska mreža (F1 0,890), SVM (0,886) i AdaBoost (0,883), sve varijante sa regularizacijom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Razlike među prvih sedam modela manje su od 0,015 F1 mere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Poslednja tri mesta: KNN (0,833), AdaBoost (0,831) i SVM (0,830), sve bez regularizacije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Najveći AUC: XGBoost i slučajna šuma sa regularizacijom (0,948)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Neuronska mreža ne nadmašuje klasične modele značajno</a:t>
            </a:r>
          </a:p>
        </p:txBody>
      </p:sp>
      <p:sp>
        <p:nvSpPr>
          <p:cNvPr id="537" name="TextBox 538"/>
          <p:cNvSpPr txBox="1"/>
          <p:nvPr/>
        </p:nvSpPr>
        <p:spPr>
          <a:xfrm>
            <a:off x="10515600" y="6400800"/>
            <a:ext cx="112471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dirty="0">
                <a:solidFill>
                  <a:srgbClr val="667585"/>
                </a:solidFill>
                <a:latin typeface="Calibri"/>
                <a:cs typeface="Calibri"/>
              </a:rPr>
              <a:t>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TextBox 382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400" b="1" dirty="0">
                <a:solidFill>
                  <a:srgbClr val="16283F"/>
                </a:solidFill>
                <a:latin typeface="Calibri"/>
                <a:cs typeface="Calibri"/>
              </a:rPr>
              <a:t>Najbolji i najgori klasični model </a:t>
            </a:r>
          </a:p>
        </p:txBody>
      </p:sp>
      <p:sp>
        <p:nvSpPr>
          <p:cNvPr id="383" name="Rect 384"/>
          <p:cNvSpPr/>
          <p:nvPr/>
        </p:nvSpPr>
        <p:spPr>
          <a:xfrm>
            <a:off x="548640" y="786384"/>
            <a:ext cx="11091672" cy="10973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85" name="TextBox 386"/>
          <p:cNvSpPr txBox="1"/>
          <p:nvPr/>
        </p:nvSpPr>
        <p:spPr>
          <a:xfrm>
            <a:off x="548640" y="105156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b="1" dirty="0">
                <a:solidFill>
                  <a:srgbClr val="16283F"/>
                </a:solidFill>
                <a:latin typeface="Calibri"/>
                <a:cs typeface="Calibri"/>
              </a:rPr>
              <a:t>SVM sa regularizacijom (C = 1, gamma = 0,1) – F1 0,886</a:t>
            </a:r>
          </a:p>
        </p:txBody>
      </p:sp>
      <p:graphicFrame>
        <p:nvGraphicFramePr>
          <p:cNvPr id="387" name="Tabela 388"/>
          <p:cNvGraphicFramePr>
            <a:graphicFrameLocks noGrp="1"/>
          </p:cNvGraphicFramePr>
          <p:nvPr/>
        </p:nvGraphicFramePr>
        <p:xfrm>
          <a:off x="548640" y="1371600"/>
          <a:ext cx="5394960" cy="10972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klasa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preciznost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odziv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F1 mera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broj instanci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 (zdravi)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0,88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0,82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0,85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82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1 (bolesni)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0,86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0,91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0,89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102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tačnost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 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 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0,87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184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89" name="TextBox 390"/>
          <p:cNvSpPr txBox="1"/>
          <p:nvPr/>
        </p:nvSpPr>
        <p:spPr>
          <a:xfrm>
            <a:off x="548640" y="269748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b="1" dirty="0">
                <a:solidFill>
                  <a:srgbClr val="16283F"/>
                </a:solidFill>
                <a:latin typeface="Calibri"/>
                <a:cs typeface="Calibri"/>
              </a:rPr>
              <a:t>Matrica konfuzije</a:t>
            </a:r>
          </a:p>
        </p:txBody>
      </p:sp>
      <p:graphicFrame>
        <p:nvGraphicFramePr>
          <p:cNvPr id="391" name="Tabela 3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406596"/>
              </p:ext>
            </p:extLst>
          </p:nvPr>
        </p:nvGraphicFramePr>
        <p:xfrm>
          <a:off x="548640" y="3017520"/>
          <a:ext cx="5394960" cy="93268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 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zdrav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bolestan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stvarno: zdrav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67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15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stvarno: bolestan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16283F"/>
                          </a:solidFill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93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93" name="TextBox 394"/>
          <p:cNvSpPr txBox="1"/>
          <p:nvPr/>
        </p:nvSpPr>
        <p:spPr>
          <a:xfrm>
            <a:off x="6245352" y="105156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b="1" dirty="0">
                <a:solidFill>
                  <a:srgbClr val="16283F"/>
                </a:solidFill>
                <a:latin typeface="Calibri"/>
                <a:cs typeface="Calibri"/>
              </a:rPr>
              <a:t>SVM bez regularizacije (C = 1 000 000) – F1 0,830</a:t>
            </a:r>
          </a:p>
        </p:txBody>
      </p:sp>
      <p:graphicFrame>
        <p:nvGraphicFramePr>
          <p:cNvPr id="395" name="Tabela 396"/>
          <p:cNvGraphicFramePr>
            <a:graphicFrameLocks noGrp="1"/>
          </p:cNvGraphicFramePr>
          <p:nvPr/>
        </p:nvGraphicFramePr>
        <p:xfrm>
          <a:off x="6245352" y="1371600"/>
          <a:ext cx="5394960" cy="10972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klasa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preciznost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odziv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F1 mera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broj instanci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 (zdravi)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0,78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0,82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0,80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82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1 (bolesni)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0,85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0,81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0,83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102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tačnost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 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 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0,82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184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7" name="TextBox 398"/>
          <p:cNvSpPr txBox="1"/>
          <p:nvPr/>
        </p:nvSpPr>
        <p:spPr>
          <a:xfrm>
            <a:off x="6245352" y="269748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b="1" dirty="0">
                <a:solidFill>
                  <a:srgbClr val="16283F"/>
                </a:solidFill>
                <a:latin typeface="Calibri"/>
                <a:cs typeface="Calibri"/>
              </a:rPr>
              <a:t>Matrica konfuzije</a:t>
            </a:r>
          </a:p>
        </p:txBody>
      </p:sp>
      <p:graphicFrame>
        <p:nvGraphicFramePr>
          <p:cNvPr id="399" name="Tabela 4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9794064"/>
              </p:ext>
            </p:extLst>
          </p:nvPr>
        </p:nvGraphicFramePr>
        <p:xfrm>
          <a:off x="6245352" y="3017520"/>
          <a:ext cx="5394960" cy="93268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 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zdrav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bolestan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stvarno: zdrav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67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15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stvarno: bolestan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19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83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01" name="Rect 402"/>
          <p:cNvSpPr/>
          <p:nvPr/>
        </p:nvSpPr>
        <p:spPr>
          <a:xfrm>
            <a:off x="548640" y="4206240"/>
            <a:ext cx="11091672" cy="10973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3" name="TextBox 404"/>
          <p:cNvSpPr txBox="1"/>
          <p:nvPr/>
        </p:nvSpPr>
        <p:spPr>
          <a:xfrm>
            <a:off x="550164" y="4389120"/>
            <a:ext cx="11091672" cy="20116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Među 12 varijanti klasičnih modela najbolji i najgori model su isti algoritam SVM sa i bez regularizacije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Zdrave pacijente obe varijante klasifikuju isto, 67 tačno i 15 pogrešno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Bolesne pacijente regularizovan model propušta 9, a neregularizovan 19 što je više nego dvostruko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Propušten bolestan pacijent (lažno negativna predikcija) je najskuplja greška u medicinskom kontekstu</a:t>
            </a:r>
          </a:p>
        </p:txBody>
      </p:sp>
      <p:sp>
        <p:nvSpPr>
          <p:cNvPr id="539" name="TextBox 540"/>
          <p:cNvSpPr txBox="1"/>
          <p:nvPr/>
        </p:nvSpPr>
        <p:spPr>
          <a:xfrm>
            <a:off x="10515600" y="6400800"/>
            <a:ext cx="112471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dirty="0">
                <a:solidFill>
                  <a:srgbClr val="667585"/>
                </a:solidFill>
                <a:latin typeface="Calibri"/>
                <a:cs typeface="Calibri"/>
              </a:rPr>
              <a:t>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TextBox 406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2000" b="1" dirty="0">
                <a:solidFill>
                  <a:srgbClr val="16283F"/>
                </a:solidFill>
                <a:latin typeface="Calibri"/>
                <a:cs typeface="Calibri"/>
              </a:rPr>
              <a:t>ROC krive i AUC</a:t>
            </a:r>
          </a:p>
        </p:txBody>
      </p:sp>
      <p:sp>
        <p:nvSpPr>
          <p:cNvPr id="407" name="Rect 408"/>
          <p:cNvSpPr/>
          <p:nvPr/>
        </p:nvSpPr>
        <p:spPr>
          <a:xfrm>
            <a:off x="548640" y="786384"/>
            <a:ext cx="11091672" cy="10973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541" name="Slika 5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465" y="1051560"/>
            <a:ext cx="5451504" cy="5310168"/>
          </a:xfrm>
          <a:prstGeom prst="rect">
            <a:avLst/>
          </a:prstGeom>
        </p:spPr>
      </p:pic>
      <p:sp>
        <p:nvSpPr>
          <p:cNvPr id="411" name="TextBox 412"/>
          <p:cNvSpPr txBox="1"/>
          <p:nvPr/>
        </p:nvSpPr>
        <p:spPr>
          <a:xfrm>
            <a:off x="6603161" y="2983886"/>
            <a:ext cx="5394960" cy="6151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Sve krive su daleko iznad dijagonale, koja odgovara nasumičnom pogađanju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Krive su međusobno vrlo bliske, nijedan model nema izrazitu prednost na svim pragovima</a:t>
            </a:r>
          </a:p>
        </p:txBody>
      </p:sp>
      <p:sp>
        <p:nvSpPr>
          <p:cNvPr id="543" name="TextBox 544"/>
          <p:cNvSpPr txBox="1"/>
          <p:nvPr/>
        </p:nvSpPr>
        <p:spPr>
          <a:xfrm>
            <a:off x="10515600" y="6400800"/>
            <a:ext cx="112471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dirty="0">
                <a:solidFill>
                  <a:srgbClr val="667585"/>
                </a:solidFill>
                <a:latin typeface="Calibri"/>
                <a:cs typeface="Calibri"/>
              </a:rPr>
              <a:t>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TextBox 418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2000" b="1" dirty="0">
                <a:solidFill>
                  <a:srgbClr val="16283F"/>
                </a:solidFill>
                <a:latin typeface="Calibri"/>
                <a:cs typeface="Calibri"/>
              </a:rPr>
              <a:t>Pomeranje praga odlučivanja</a:t>
            </a:r>
          </a:p>
        </p:txBody>
      </p:sp>
      <p:sp>
        <p:nvSpPr>
          <p:cNvPr id="419" name="Rect 420"/>
          <p:cNvSpPr/>
          <p:nvPr/>
        </p:nvSpPr>
        <p:spPr>
          <a:xfrm>
            <a:off x="548640" y="786384"/>
            <a:ext cx="11091672" cy="10973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1" name="TextBox 422"/>
          <p:cNvSpPr txBox="1"/>
          <p:nvPr/>
        </p:nvSpPr>
        <p:spPr>
          <a:xfrm>
            <a:off x="548640" y="1051560"/>
            <a:ext cx="5394960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Model je SVM sa regularizacijom, najbolji klasični model</a:t>
            </a:r>
          </a:p>
        </p:txBody>
      </p:sp>
      <p:graphicFrame>
        <p:nvGraphicFramePr>
          <p:cNvPr id="423" name="Tabela 4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939407"/>
              </p:ext>
            </p:extLst>
          </p:nvPr>
        </p:nvGraphicFramePr>
        <p:xfrm>
          <a:off x="477078" y="1508760"/>
          <a:ext cx="5394960" cy="16459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prag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preciznost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odziv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0,3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0,798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0,931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0,4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0,832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0,922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0,5 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0,868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0,902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0,6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0,880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0,863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0,7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0,924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0,833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25" name="TextBox 426"/>
          <p:cNvSpPr txBox="1"/>
          <p:nvPr/>
        </p:nvSpPr>
        <p:spPr>
          <a:xfrm>
            <a:off x="477078" y="3609495"/>
            <a:ext cx="5394960" cy="182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Nižim pragom odziv raste, a preciznost opada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Prag 0,4: odziv raste sa 0,902 na 0,922, a preciznost pada sa 0,868 na 0,832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Prag 0,3: odziv 0,931, ali preciznost pada na 0,798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Cena </a:t>
            </a:r>
            <a:r>
              <a:rPr lang="en-US" sz="1200" dirty="0" err="1">
                <a:solidFill>
                  <a:srgbClr val="26333F"/>
                </a:solidFill>
                <a:latin typeface="Calibri"/>
                <a:cs typeface="Calibri"/>
              </a:rPr>
              <a:t>propuštanja</a:t>
            </a:r>
            <a:r>
              <a:rPr lang="en-US" sz="1200" dirty="0">
                <a:solidFill>
                  <a:srgbClr val="26333F"/>
                </a:solidFill>
                <a:latin typeface="Calibri"/>
                <a:cs typeface="Calibri"/>
              </a:rPr>
              <a:t> </a:t>
            </a:r>
            <a:r>
              <a:rPr lang="en-US" sz="1200" dirty="0" err="1">
                <a:solidFill>
                  <a:srgbClr val="26333F"/>
                </a:solidFill>
                <a:latin typeface="Calibri"/>
                <a:cs typeface="Calibri"/>
              </a:rPr>
              <a:t>bolesnog</a:t>
            </a:r>
            <a:r>
              <a:rPr lang="en-US" sz="1200" dirty="0">
                <a:solidFill>
                  <a:srgbClr val="26333F"/>
                </a:solidFill>
                <a:latin typeface="Calibri"/>
                <a:cs typeface="Calibri"/>
              </a:rPr>
              <a:t> </a:t>
            </a:r>
            <a:r>
              <a:rPr lang="en-US" sz="1200" dirty="0" err="1">
                <a:solidFill>
                  <a:srgbClr val="26333F"/>
                </a:solidFill>
                <a:latin typeface="Calibri"/>
                <a:cs typeface="Calibri"/>
              </a:rPr>
              <a:t>pacijenta</a:t>
            </a:r>
            <a:r>
              <a:rPr lang="en-US" sz="1200" dirty="0">
                <a:solidFill>
                  <a:srgbClr val="26333F"/>
                </a:solidFill>
                <a:latin typeface="Calibri"/>
                <a:cs typeface="Calibri"/>
              </a:rPr>
              <a:t> </a:t>
            </a:r>
            <a:r>
              <a:rPr lang="sr-Latn-RS" sz="1200" dirty="0">
                <a:solidFill>
                  <a:srgbClr val="26333F"/>
                </a:solidFill>
                <a:latin typeface="Calibri"/>
                <a:cs typeface="Calibri"/>
              </a:rPr>
              <a:t>je </a:t>
            </a:r>
            <a:r>
              <a:rPr lang="en-US" sz="1200" dirty="0" err="1">
                <a:solidFill>
                  <a:srgbClr val="26333F"/>
                </a:solidFill>
                <a:latin typeface="Calibri"/>
                <a:cs typeface="Calibri"/>
              </a:rPr>
              <a:t>veća</a:t>
            </a:r>
            <a:r>
              <a:rPr lang="en-US" sz="1200" dirty="0">
                <a:solidFill>
                  <a:srgbClr val="26333F"/>
                </a:solidFill>
                <a:latin typeface="Calibri"/>
                <a:cs typeface="Calibri"/>
              </a:rPr>
              <a:t> od </a:t>
            </a:r>
            <a:r>
              <a:rPr lang="en-US" sz="1200" dirty="0" err="1">
                <a:solidFill>
                  <a:srgbClr val="26333F"/>
                </a:solidFill>
                <a:latin typeface="Calibri"/>
                <a:cs typeface="Calibri"/>
              </a:rPr>
              <a:t>cene</a:t>
            </a:r>
            <a:r>
              <a:rPr lang="en-US" sz="1200" dirty="0">
                <a:solidFill>
                  <a:srgbClr val="26333F"/>
                </a:solidFill>
                <a:latin typeface="Calibri"/>
                <a:cs typeface="Calibri"/>
              </a:rPr>
              <a:t> </a:t>
            </a:r>
            <a:r>
              <a:rPr lang="en-US" sz="1200" dirty="0" err="1">
                <a:solidFill>
                  <a:srgbClr val="26333F"/>
                </a:solidFill>
                <a:latin typeface="Calibri"/>
                <a:cs typeface="Calibri"/>
              </a:rPr>
              <a:t>dodatnog</a:t>
            </a:r>
            <a:r>
              <a:rPr lang="en-US" sz="1200" dirty="0">
                <a:solidFill>
                  <a:srgbClr val="26333F"/>
                </a:solidFill>
                <a:latin typeface="Calibri"/>
                <a:cs typeface="Calibri"/>
              </a:rPr>
              <a:t> </a:t>
            </a:r>
            <a:r>
              <a:rPr lang="en-US" sz="1200" dirty="0" err="1">
                <a:solidFill>
                  <a:srgbClr val="26333F"/>
                </a:solidFill>
                <a:latin typeface="Calibri"/>
                <a:cs typeface="Calibri"/>
              </a:rPr>
              <a:t>pregleda</a:t>
            </a:r>
            <a:r>
              <a:rPr lang="en-US" sz="1200" dirty="0">
                <a:solidFill>
                  <a:srgbClr val="26333F"/>
                </a:solidFill>
                <a:latin typeface="Calibri"/>
                <a:cs typeface="Calibri"/>
              </a:rPr>
              <a:t> kod </a:t>
            </a:r>
            <a:r>
              <a:rPr lang="en-US" sz="1200" dirty="0" err="1">
                <a:solidFill>
                  <a:srgbClr val="26333F"/>
                </a:solidFill>
                <a:latin typeface="Calibri"/>
                <a:cs typeface="Calibri"/>
              </a:rPr>
              <a:t>zdravog</a:t>
            </a:r>
            <a:r>
              <a:rPr lang="en-US" sz="1200" dirty="0">
                <a:solidFill>
                  <a:srgbClr val="26333F"/>
                </a:solidFill>
                <a:latin typeface="Calibri"/>
                <a:cs typeface="Calibri"/>
              </a:rPr>
              <a:t>, </a:t>
            </a:r>
            <a:r>
              <a:rPr lang="en-US" sz="1200" dirty="0" err="1">
                <a:solidFill>
                  <a:srgbClr val="26333F"/>
                </a:solidFill>
                <a:latin typeface="Calibri"/>
                <a:cs typeface="Calibri"/>
              </a:rPr>
              <a:t>bira</a:t>
            </a:r>
            <a:r>
              <a:rPr lang="en-US" sz="1200" dirty="0">
                <a:solidFill>
                  <a:srgbClr val="26333F"/>
                </a:solidFill>
                <a:latin typeface="Calibri"/>
                <a:cs typeface="Calibri"/>
              </a:rPr>
              <a:t> se </a:t>
            </a:r>
            <a:r>
              <a:rPr lang="en-US" sz="1200" dirty="0" err="1">
                <a:solidFill>
                  <a:srgbClr val="26333F"/>
                </a:solidFill>
                <a:latin typeface="Calibri"/>
                <a:cs typeface="Calibri"/>
              </a:rPr>
              <a:t>niži</a:t>
            </a:r>
            <a:r>
              <a:rPr lang="en-US" sz="1200" dirty="0">
                <a:solidFill>
                  <a:srgbClr val="26333F"/>
                </a:solidFill>
                <a:latin typeface="Calibri"/>
                <a:cs typeface="Calibri"/>
              </a:rPr>
              <a:t> </a:t>
            </a:r>
            <a:r>
              <a:rPr lang="en-US" sz="1200" dirty="0" err="1">
                <a:solidFill>
                  <a:srgbClr val="26333F"/>
                </a:solidFill>
                <a:latin typeface="Calibri"/>
                <a:cs typeface="Calibri"/>
              </a:rPr>
              <a:t>prag</a:t>
            </a:r>
            <a:r>
              <a:rPr lang="en-US" sz="1200" dirty="0">
                <a:solidFill>
                  <a:srgbClr val="26333F"/>
                </a:solidFill>
                <a:latin typeface="Calibri"/>
                <a:cs typeface="Calibri"/>
              </a:rPr>
              <a:t> </a:t>
            </a:r>
            <a:r>
              <a:rPr lang="en-US" sz="1200" dirty="0" err="1">
                <a:solidFill>
                  <a:srgbClr val="26333F"/>
                </a:solidFill>
                <a:latin typeface="Calibri"/>
                <a:cs typeface="Calibri"/>
              </a:rPr>
              <a:t>odlučivanja</a:t>
            </a:r>
            <a:r>
              <a:rPr lang="en-US" sz="1200" dirty="0">
                <a:solidFill>
                  <a:srgbClr val="26333F"/>
                </a:solidFill>
                <a:latin typeface="Calibri"/>
                <a:cs typeface="Calibri"/>
              </a:rPr>
              <a:t>, </a:t>
            </a:r>
            <a:r>
              <a:rPr lang="en-US" sz="1200" dirty="0" err="1">
                <a:solidFill>
                  <a:srgbClr val="26333F"/>
                </a:solidFill>
                <a:latin typeface="Calibri"/>
                <a:cs typeface="Calibri"/>
              </a:rPr>
              <a:t>npr</a:t>
            </a:r>
            <a:r>
              <a:rPr lang="en-US" sz="1200" dirty="0">
                <a:solidFill>
                  <a:srgbClr val="26333F"/>
                </a:solidFill>
                <a:latin typeface="Calibri"/>
                <a:cs typeface="Calibri"/>
              </a:rPr>
              <a:t>. 0,4  </a:t>
            </a:r>
            <a:r>
              <a:rPr lang="en-US" sz="1200" dirty="0" err="1">
                <a:solidFill>
                  <a:srgbClr val="26333F"/>
                </a:solidFill>
                <a:latin typeface="Calibri"/>
                <a:cs typeface="Calibri"/>
              </a:rPr>
              <a:t>jer</a:t>
            </a:r>
            <a:r>
              <a:rPr lang="en-US" sz="1200" dirty="0">
                <a:solidFill>
                  <a:srgbClr val="26333F"/>
                </a:solidFill>
                <a:latin typeface="Calibri"/>
                <a:cs typeface="Calibri"/>
              </a:rPr>
              <a:t> je </a:t>
            </a:r>
            <a:r>
              <a:rPr lang="en-US" sz="1200" dirty="0" err="1">
                <a:solidFill>
                  <a:srgbClr val="26333F"/>
                </a:solidFill>
                <a:latin typeface="Calibri"/>
                <a:cs typeface="Calibri"/>
              </a:rPr>
              <a:t>bolje</a:t>
            </a:r>
            <a:r>
              <a:rPr lang="en-US" sz="1200" dirty="0">
                <a:solidFill>
                  <a:srgbClr val="26333F"/>
                </a:solidFill>
                <a:latin typeface="Calibri"/>
                <a:cs typeface="Calibri"/>
              </a:rPr>
              <a:t> </a:t>
            </a:r>
            <a:r>
              <a:rPr lang="en-US" sz="1200" dirty="0" err="1">
                <a:solidFill>
                  <a:srgbClr val="26333F"/>
                </a:solidFill>
                <a:latin typeface="Calibri"/>
                <a:cs typeface="Calibri"/>
              </a:rPr>
              <a:t>uputiti</a:t>
            </a:r>
            <a:r>
              <a:rPr lang="en-US" sz="1200" dirty="0">
                <a:solidFill>
                  <a:srgbClr val="26333F"/>
                </a:solidFill>
                <a:latin typeface="Calibri"/>
                <a:cs typeface="Calibri"/>
              </a:rPr>
              <a:t> </a:t>
            </a:r>
            <a:r>
              <a:rPr lang="en-US" sz="1200" dirty="0" err="1">
                <a:solidFill>
                  <a:srgbClr val="26333F"/>
                </a:solidFill>
                <a:latin typeface="Calibri"/>
                <a:cs typeface="Calibri"/>
              </a:rPr>
              <a:t>zdravu</a:t>
            </a:r>
            <a:r>
              <a:rPr lang="en-US" sz="1200" dirty="0">
                <a:solidFill>
                  <a:srgbClr val="26333F"/>
                </a:solidFill>
                <a:latin typeface="Calibri"/>
                <a:cs typeface="Calibri"/>
              </a:rPr>
              <a:t> </a:t>
            </a:r>
            <a:r>
              <a:rPr lang="en-US" sz="1200" dirty="0" err="1">
                <a:solidFill>
                  <a:srgbClr val="26333F"/>
                </a:solidFill>
                <a:latin typeface="Calibri"/>
                <a:cs typeface="Calibri"/>
              </a:rPr>
              <a:t>osobu</a:t>
            </a:r>
            <a:r>
              <a:rPr lang="en-US" sz="1200" dirty="0">
                <a:solidFill>
                  <a:srgbClr val="26333F"/>
                </a:solidFill>
                <a:latin typeface="Calibri"/>
                <a:cs typeface="Calibri"/>
              </a:rPr>
              <a:t> </a:t>
            </a:r>
            <a:r>
              <a:rPr lang="en-US" sz="1200" dirty="0" err="1">
                <a:solidFill>
                  <a:srgbClr val="26333F"/>
                </a:solidFill>
                <a:latin typeface="Calibri"/>
                <a:cs typeface="Calibri"/>
              </a:rPr>
              <a:t>na</a:t>
            </a:r>
            <a:r>
              <a:rPr lang="en-US" sz="1200" dirty="0">
                <a:solidFill>
                  <a:srgbClr val="26333F"/>
                </a:solidFill>
                <a:latin typeface="Calibri"/>
                <a:cs typeface="Calibri"/>
              </a:rPr>
              <a:t> </a:t>
            </a:r>
            <a:r>
              <a:rPr lang="en-US" sz="1200" dirty="0" err="1">
                <a:solidFill>
                  <a:srgbClr val="26333F"/>
                </a:solidFill>
                <a:latin typeface="Calibri"/>
                <a:cs typeface="Calibri"/>
              </a:rPr>
              <a:t>dodatnu</a:t>
            </a:r>
            <a:r>
              <a:rPr lang="en-US" sz="1200" dirty="0">
                <a:solidFill>
                  <a:srgbClr val="26333F"/>
                </a:solidFill>
                <a:latin typeface="Calibri"/>
                <a:cs typeface="Calibri"/>
              </a:rPr>
              <a:t> </a:t>
            </a:r>
            <a:r>
              <a:rPr lang="en-US" sz="1200" dirty="0" err="1">
                <a:solidFill>
                  <a:srgbClr val="26333F"/>
                </a:solidFill>
                <a:latin typeface="Calibri"/>
                <a:cs typeface="Calibri"/>
              </a:rPr>
              <a:t>proveru</a:t>
            </a:r>
            <a:r>
              <a:rPr lang="en-US" sz="1200" dirty="0">
                <a:solidFill>
                  <a:srgbClr val="26333F"/>
                </a:solidFill>
                <a:latin typeface="Calibri"/>
                <a:cs typeface="Calibri"/>
              </a:rPr>
              <a:t> </a:t>
            </a:r>
            <a:r>
              <a:rPr lang="en-US" sz="1200" dirty="0" err="1">
                <a:solidFill>
                  <a:srgbClr val="26333F"/>
                </a:solidFill>
                <a:latin typeface="Calibri"/>
                <a:cs typeface="Calibri"/>
              </a:rPr>
              <a:t>nego</a:t>
            </a:r>
            <a:r>
              <a:rPr lang="en-US" sz="1200" dirty="0">
                <a:solidFill>
                  <a:srgbClr val="26333F"/>
                </a:solidFill>
                <a:latin typeface="Calibri"/>
                <a:cs typeface="Calibri"/>
              </a:rPr>
              <a:t> </a:t>
            </a:r>
            <a:r>
              <a:rPr lang="en-US" sz="1200" dirty="0" err="1">
                <a:solidFill>
                  <a:srgbClr val="26333F"/>
                </a:solidFill>
                <a:latin typeface="Calibri"/>
                <a:cs typeface="Calibri"/>
              </a:rPr>
              <a:t>bolesnu</a:t>
            </a:r>
            <a:r>
              <a:rPr lang="en-US" sz="1200" dirty="0">
                <a:solidFill>
                  <a:srgbClr val="26333F"/>
                </a:solidFill>
                <a:latin typeface="Calibri"/>
                <a:cs typeface="Calibri"/>
              </a:rPr>
              <a:t> </a:t>
            </a:r>
            <a:r>
              <a:rPr lang="en-US" sz="1200" dirty="0" err="1">
                <a:solidFill>
                  <a:srgbClr val="26333F"/>
                </a:solidFill>
                <a:latin typeface="Calibri"/>
                <a:cs typeface="Calibri"/>
              </a:rPr>
              <a:t>proglasiti</a:t>
            </a:r>
            <a:r>
              <a:rPr lang="en-US" sz="1200" dirty="0">
                <a:solidFill>
                  <a:srgbClr val="26333F"/>
                </a:solidFill>
                <a:latin typeface="Calibri"/>
                <a:cs typeface="Calibri"/>
              </a:rPr>
              <a:t> </a:t>
            </a:r>
            <a:r>
              <a:rPr lang="en-US" sz="1200" dirty="0" err="1">
                <a:solidFill>
                  <a:srgbClr val="26333F"/>
                </a:solidFill>
                <a:latin typeface="Calibri"/>
                <a:cs typeface="Calibri"/>
              </a:rPr>
              <a:t>zdravom</a:t>
            </a:r>
            <a:r>
              <a:rPr lang="en-US" sz="1200" dirty="0">
                <a:solidFill>
                  <a:srgbClr val="26333F"/>
                </a:solidFill>
                <a:latin typeface="Calibri"/>
                <a:cs typeface="Calibri"/>
              </a:rPr>
              <a:t>.</a:t>
            </a:r>
            <a:endParaRPr lang="sr-Latn-RS" sz="1200" dirty="0">
              <a:solidFill>
                <a:srgbClr val="26333F"/>
              </a:solidFill>
              <a:latin typeface="Calibri"/>
              <a:cs typeface="Calibri"/>
            </a:endParaRP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endParaRPr lang="sr-Latn-RS" sz="1200" dirty="0">
              <a:solidFill>
                <a:srgbClr val="26333F"/>
              </a:solidFill>
              <a:latin typeface="Calibri"/>
              <a:cs typeface="Calibri"/>
            </a:endParaRPr>
          </a:p>
        </p:txBody>
      </p:sp>
      <p:pic>
        <p:nvPicPr>
          <p:cNvPr id="545" name="Slika 5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053945"/>
            <a:ext cx="5394960" cy="4201471"/>
          </a:xfrm>
          <a:prstGeom prst="rect">
            <a:avLst/>
          </a:prstGeom>
        </p:spPr>
      </p:pic>
      <p:sp>
        <p:nvSpPr>
          <p:cNvPr id="547" name="TextBox 548"/>
          <p:cNvSpPr txBox="1"/>
          <p:nvPr/>
        </p:nvSpPr>
        <p:spPr>
          <a:xfrm>
            <a:off x="10515600" y="6400800"/>
            <a:ext cx="112471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dirty="0">
                <a:solidFill>
                  <a:srgbClr val="667585"/>
                </a:solidFill>
                <a:latin typeface="Calibri"/>
                <a:cs typeface="Calibri"/>
              </a:rPr>
              <a:t>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TextBox 442"/>
          <p:cNvSpPr txBox="1"/>
          <p:nvPr/>
        </p:nvSpPr>
        <p:spPr>
          <a:xfrm>
            <a:off x="548640" y="411480"/>
            <a:ext cx="11091672" cy="320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2000" b="1" dirty="0">
                <a:solidFill>
                  <a:srgbClr val="16283F"/>
                </a:solidFill>
                <a:latin typeface="Calibri"/>
                <a:cs typeface="Calibri"/>
              </a:rPr>
              <a:t>Zaključak</a:t>
            </a:r>
            <a:endParaRPr lang="sr-Latn-RS" sz="1400" b="1" dirty="0">
              <a:solidFill>
                <a:srgbClr val="16283F"/>
              </a:solidFill>
              <a:latin typeface="Calibri"/>
              <a:cs typeface="Calibri"/>
            </a:endParaRPr>
          </a:p>
        </p:txBody>
      </p:sp>
      <p:sp>
        <p:nvSpPr>
          <p:cNvPr id="443" name="Rect 444"/>
          <p:cNvSpPr/>
          <p:nvPr/>
        </p:nvSpPr>
        <p:spPr>
          <a:xfrm>
            <a:off x="548640" y="786384"/>
            <a:ext cx="11091672" cy="10973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5" name="TextBox 446"/>
          <p:cNvSpPr txBox="1"/>
          <p:nvPr/>
        </p:nvSpPr>
        <p:spPr>
          <a:xfrm>
            <a:off x="548640" y="1097280"/>
            <a:ext cx="6583680" cy="5212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Regularizacija</a:t>
            </a:r>
            <a:r>
              <a:rPr lang="en-US" sz="1200" dirty="0"/>
              <a:t> je </a:t>
            </a:r>
            <a:r>
              <a:rPr lang="en-US" sz="1200" dirty="0" err="1"/>
              <a:t>neophodna</a:t>
            </a:r>
            <a:r>
              <a:rPr lang="en-US" sz="1200" dirty="0"/>
              <a:t>, </a:t>
            </a:r>
            <a:r>
              <a:rPr lang="en-US" sz="1200" dirty="0" err="1"/>
              <a:t>ali</a:t>
            </a:r>
            <a:r>
              <a:rPr lang="en-US" sz="1200" dirty="0"/>
              <a:t> </a:t>
            </a:r>
            <a:r>
              <a:rPr lang="en-US" sz="1200" dirty="0" err="1"/>
              <a:t>njen</a:t>
            </a:r>
            <a:r>
              <a:rPr lang="en-US" sz="1200" dirty="0"/>
              <a:t> </a:t>
            </a:r>
            <a:r>
              <a:rPr lang="en-US" sz="1200" dirty="0" err="1"/>
              <a:t>doprinos</a:t>
            </a:r>
            <a:r>
              <a:rPr lang="en-US" sz="1200" dirty="0"/>
              <a:t> </a:t>
            </a:r>
            <a:r>
              <a:rPr lang="en-US" sz="1200" dirty="0" err="1"/>
              <a:t>zavisi</a:t>
            </a:r>
            <a:r>
              <a:rPr lang="en-US" sz="1200" dirty="0"/>
              <a:t> od </a:t>
            </a:r>
            <a:r>
              <a:rPr lang="en-US" sz="1200" dirty="0" err="1"/>
              <a:t>modela</a:t>
            </a:r>
            <a:r>
              <a:rPr lang="sr-Latn-RS" sz="1200" dirty="0"/>
              <a:t>, </a:t>
            </a:r>
            <a:r>
              <a:rPr lang="en-US" sz="1200" dirty="0" err="1"/>
              <a:t>najviše</a:t>
            </a:r>
            <a:r>
              <a:rPr lang="en-US" sz="1200" dirty="0"/>
              <a:t> </a:t>
            </a:r>
            <a:r>
              <a:rPr lang="en-US" sz="1200" dirty="0" err="1"/>
              <a:t>dobijaju</a:t>
            </a:r>
            <a:r>
              <a:rPr lang="en-US" sz="1200" dirty="0"/>
              <a:t> AdaBoost </a:t>
            </a:r>
            <a:r>
              <a:rPr lang="en-US" sz="1200" dirty="0" err="1"/>
              <a:t>i</a:t>
            </a:r>
            <a:r>
              <a:rPr lang="en-US" sz="1200" dirty="0"/>
              <a:t> SVM, dok se </a:t>
            </a:r>
            <a:r>
              <a:rPr lang="en-US" sz="1200" dirty="0" err="1"/>
              <a:t>logistička</a:t>
            </a:r>
            <a:r>
              <a:rPr lang="en-US" sz="1200" dirty="0"/>
              <a:t> </a:t>
            </a:r>
            <a:r>
              <a:rPr lang="en-US" sz="1200" dirty="0" err="1"/>
              <a:t>regresija</a:t>
            </a:r>
            <a:r>
              <a:rPr lang="en-US" sz="1200" dirty="0"/>
              <a:t> </a:t>
            </a:r>
            <a:r>
              <a:rPr lang="en-US" sz="1200" dirty="0" err="1"/>
              <a:t>praktično</a:t>
            </a:r>
            <a:r>
              <a:rPr lang="en-US" sz="1200" dirty="0"/>
              <a:t> ne </a:t>
            </a:r>
            <a:r>
              <a:rPr lang="en-US" sz="1200" dirty="0" err="1"/>
              <a:t>menja</a:t>
            </a:r>
            <a:r>
              <a:rPr lang="en-US" sz="1200" dirty="0"/>
              <a:t>.</a:t>
            </a:r>
            <a:endParaRPr lang="sr-Latn-RS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Najbolji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</a:t>
            </a:r>
            <a:r>
              <a:rPr lang="en-US" sz="1200" dirty="0" err="1"/>
              <a:t>najgori</a:t>
            </a:r>
            <a:r>
              <a:rPr lang="en-US" sz="1200" dirty="0"/>
              <a:t> </a:t>
            </a:r>
            <a:r>
              <a:rPr lang="en-US" sz="1200" dirty="0" err="1"/>
              <a:t>klasični</a:t>
            </a:r>
            <a:r>
              <a:rPr lang="en-US" sz="1200" dirty="0"/>
              <a:t> model u celom </a:t>
            </a:r>
            <a:r>
              <a:rPr lang="en-US" sz="1200" dirty="0" err="1"/>
              <a:t>poređenju</a:t>
            </a:r>
            <a:r>
              <a:rPr lang="en-US" sz="1200" dirty="0"/>
              <a:t> </a:t>
            </a:r>
            <a:r>
              <a:rPr lang="en-US" sz="1200" dirty="0" err="1"/>
              <a:t>su</a:t>
            </a:r>
            <a:r>
              <a:rPr lang="en-US" sz="1200" dirty="0"/>
              <a:t> </a:t>
            </a:r>
            <a:r>
              <a:rPr lang="en-US" sz="1200" dirty="0" err="1"/>
              <a:t>isti</a:t>
            </a:r>
            <a:r>
              <a:rPr lang="en-US" sz="1200" dirty="0"/>
              <a:t> </a:t>
            </a:r>
            <a:r>
              <a:rPr lang="en-US" sz="1200" dirty="0" err="1"/>
              <a:t>algoritam</a:t>
            </a:r>
            <a:r>
              <a:rPr lang="en-US" sz="1200" dirty="0"/>
              <a:t>, SVM, </a:t>
            </a:r>
            <a:r>
              <a:rPr lang="en-US" sz="1200" dirty="0" err="1"/>
              <a:t>kojeg</a:t>
            </a:r>
            <a:r>
              <a:rPr lang="en-US" sz="1200" dirty="0"/>
              <a:t> </a:t>
            </a:r>
            <a:r>
              <a:rPr lang="en-US" sz="1200" dirty="0" err="1"/>
              <a:t>razlikuje</a:t>
            </a:r>
            <a:r>
              <a:rPr lang="en-US" sz="1200" dirty="0"/>
              <a:t> </a:t>
            </a:r>
            <a:r>
              <a:rPr lang="en-US" sz="1200" dirty="0" err="1"/>
              <a:t>jedino</a:t>
            </a:r>
            <a:r>
              <a:rPr lang="en-US" sz="1200" dirty="0"/>
              <a:t> </a:t>
            </a:r>
            <a:r>
              <a:rPr lang="en-US" sz="1200" dirty="0" err="1"/>
              <a:t>regularizacija</a:t>
            </a:r>
            <a:r>
              <a:rPr lang="en-US" sz="1200" dirty="0"/>
              <a:t>.</a:t>
            </a:r>
            <a:endParaRPr lang="sr-Latn-RS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Kod </a:t>
            </a:r>
            <a:r>
              <a:rPr lang="en-US" sz="1200" dirty="0" err="1"/>
              <a:t>neuronske</a:t>
            </a:r>
            <a:r>
              <a:rPr lang="en-US" sz="1200" dirty="0"/>
              <a:t> </a:t>
            </a:r>
            <a:r>
              <a:rPr lang="en-US" sz="1200" dirty="0" err="1"/>
              <a:t>mreže</a:t>
            </a:r>
            <a:r>
              <a:rPr lang="en-US" sz="1200" dirty="0"/>
              <a:t> se </a:t>
            </a:r>
            <a:r>
              <a:rPr lang="en-US" sz="1200" dirty="0" err="1"/>
              <a:t>pokazalo</a:t>
            </a:r>
            <a:r>
              <a:rPr lang="en-US" sz="1200" dirty="0"/>
              <a:t> da je </a:t>
            </a:r>
            <a:r>
              <a:rPr lang="en-US" sz="1200" dirty="0" err="1"/>
              <a:t>izbor</a:t>
            </a:r>
            <a:r>
              <a:rPr lang="en-US" sz="1200" dirty="0"/>
              <a:t> </a:t>
            </a:r>
            <a:r>
              <a:rPr lang="en-US" sz="1200" dirty="0" err="1"/>
              <a:t>arhitekture</a:t>
            </a:r>
            <a:r>
              <a:rPr lang="en-US" sz="1200" dirty="0"/>
              <a:t> </a:t>
            </a:r>
            <a:r>
              <a:rPr lang="en-US" sz="1200" dirty="0" err="1"/>
              <a:t>važniji</a:t>
            </a:r>
            <a:r>
              <a:rPr lang="en-US" sz="1200" dirty="0"/>
              <a:t> od same </a:t>
            </a:r>
            <a:r>
              <a:rPr lang="en-US" sz="1200" dirty="0" err="1"/>
              <a:t>regularizacije</a:t>
            </a:r>
            <a:r>
              <a:rPr lang="sr-Latn-RS" sz="1200" dirty="0"/>
              <a:t>, </a:t>
            </a:r>
            <a:r>
              <a:rPr lang="en-US" sz="1200" dirty="0" err="1"/>
              <a:t>manje</a:t>
            </a:r>
            <a:r>
              <a:rPr lang="en-US" sz="1200" dirty="0"/>
              <a:t> </a:t>
            </a:r>
            <a:r>
              <a:rPr lang="en-US" sz="1200" dirty="0" err="1"/>
              <a:t>mreže</a:t>
            </a:r>
            <a:r>
              <a:rPr lang="en-US" sz="1200" dirty="0"/>
              <a:t> </a:t>
            </a:r>
            <a:r>
              <a:rPr lang="en-US" sz="1200" dirty="0" err="1"/>
              <a:t>bolje</a:t>
            </a:r>
            <a:r>
              <a:rPr lang="en-US" sz="1200" dirty="0"/>
              <a:t> </a:t>
            </a:r>
            <a:r>
              <a:rPr lang="en-US" sz="1200" dirty="0" err="1"/>
              <a:t>generalizuju</a:t>
            </a:r>
            <a:r>
              <a:rPr lang="en-US" sz="1200" dirty="0"/>
              <a:t> od </a:t>
            </a:r>
            <a:r>
              <a:rPr lang="en-US" sz="1200" dirty="0" err="1"/>
              <a:t>velikih</a:t>
            </a:r>
            <a:r>
              <a:rPr lang="en-US" sz="1200" dirty="0"/>
              <a:t>.</a:t>
            </a:r>
            <a:endParaRPr lang="sr-Latn-RS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Neuronska</a:t>
            </a:r>
            <a:r>
              <a:rPr lang="en-US" sz="1200" dirty="0"/>
              <a:t> </a:t>
            </a:r>
            <a:r>
              <a:rPr lang="en-US" sz="1200" dirty="0" err="1"/>
              <a:t>mreža</a:t>
            </a:r>
            <a:r>
              <a:rPr lang="en-US" sz="1200" dirty="0"/>
              <a:t> se </a:t>
            </a:r>
            <a:r>
              <a:rPr lang="en-US" sz="1200" dirty="0" err="1"/>
              <a:t>svrstava</a:t>
            </a:r>
            <a:r>
              <a:rPr lang="en-US" sz="1200" dirty="0"/>
              <a:t> u </a:t>
            </a:r>
            <a:r>
              <a:rPr lang="en-US" sz="1200" dirty="0" err="1"/>
              <a:t>sam</a:t>
            </a:r>
            <a:r>
              <a:rPr lang="en-US" sz="1200" dirty="0"/>
              <a:t> </a:t>
            </a:r>
            <a:r>
              <a:rPr lang="en-US" sz="1200" dirty="0" err="1"/>
              <a:t>vrh</a:t>
            </a:r>
            <a:r>
              <a:rPr lang="en-US" sz="1200" dirty="0"/>
              <a:t>, </a:t>
            </a:r>
            <a:r>
              <a:rPr lang="en-US" sz="1200" dirty="0" err="1"/>
              <a:t>ali</a:t>
            </a:r>
            <a:r>
              <a:rPr lang="en-US" sz="1200" dirty="0"/>
              <a:t> </a:t>
            </a:r>
            <a:r>
              <a:rPr lang="en-US" sz="1200" dirty="0" err="1"/>
              <a:t>klasične</a:t>
            </a:r>
            <a:r>
              <a:rPr lang="en-US" sz="1200" dirty="0"/>
              <a:t> </a:t>
            </a:r>
            <a:r>
              <a:rPr lang="en-US" sz="1200" dirty="0" err="1"/>
              <a:t>modele</a:t>
            </a:r>
            <a:r>
              <a:rPr lang="en-US" sz="1200" dirty="0"/>
              <a:t> </a:t>
            </a:r>
            <a:r>
              <a:rPr lang="en-US" sz="1200" dirty="0" err="1"/>
              <a:t>suštinski</a:t>
            </a:r>
            <a:r>
              <a:rPr lang="en-US" sz="1200" dirty="0"/>
              <a:t> ne </a:t>
            </a:r>
            <a:r>
              <a:rPr lang="en-US" sz="1200" dirty="0" err="1"/>
              <a:t>nadmašuje</a:t>
            </a:r>
            <a:r>
              <a:rPr lang="en-US" sz="1200" dirty="0"/>
              <a:t>, </a:t>
            </a:r>
            <a:r>
              <a:rPr lang="en-US" sz="1200" dirty="0" err="1"/>
              <a:t>što</a:t>
            </a:r>
            <a:r>
              <a:rPr lang="en-US" sz="1200" dirty="0"/>
              <a:t> je za ovako </a:t>
            </a:r>
            <a:r>
              <a:rPr lang="en-US" sz="1200" dirty="0" err="1"/>
              <a:t>mali</a:t>
            </a:r>
            <a:r>
              <a:rPr lang="en-US" sz="1200" dirty="0"/>
              <a:t> </a:t>
            </a:r>
            <a:r>
              <a:rPr lang="en-US" sz="1200" dirty="0" err="1"/>
              <a:t>skup</a:t>
            </a:r>
            <a:r>
              <a:rPr lang="en-US" sz="1200" dirty="0"/>
              <a:t> </a:t>
            </a:r>
            <a:r>
              <a:rPr lang="en-US" sz="1200" dirty="0" err="1"/>
              <a:t>podataka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</a:t>
            </a:r>
            <a:r>
              <a:rPr lang="en-US" sz="1200" dirty="0" err="1"/>
              <a:t>očekivano</a:t>
            </a:r>
            <a:r>
              <a:rPr lang="en-US" sz="1200" dirty="0"/>
              <a:t>.</a:t>
            </a:r>
            <a:endParaRPr lang="sr-Latn-RS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Priprema</a:t>
            </a:r>
            <a:r>
              <a:rPr lang="en-US" sz="1200" dirty="0"/>
              <a:t> </a:t>
            </a:r>
            <a:r>
              <a:rPr lang="en-US" sz="1200" dirty="0" err="1"/>
              <a:t>podataka</a:t>
            </a:r>
            <a:r>
              <a:rPr lang="en-US" sz="1200" dirty="0"/>
              <a:t> se </a:t>
            </a:r>
            <a:r>
              <a:rPr lang="en-US" sz="1200" dirty="0" err="1"/>
              <a:t>pokazala</a:t>
            </a:r>
            <a:r>
              <a:rPr lang="en-US" sz="1200" dirty="0"/>
              <a:t> </a:t>
            </a:r>
            <a:r>
              <a:rPr lang="en-US" sz="1200" dirty="0" err="1"/>
              <a:t>vrednijom</a:t>
            </a:r>
            <a:r>
              <a:rPr lang="en-US" sz="1200" dirty="0"/>
              <a:t> </a:t>
            </a:r>
            <a:r>
              <a:rPr lang="en-US" sz="1200" dirty="0" err="1"/>
              <a:t>nego</a:t>
            </a:r>
            <a:r>
              <a:rPr lang="en-US" sz="1200" dirty="0"/>
              <a:t> sama </a:t>
            </a:r>
            <a:r>
              <a:rPr lang="en-US" sz="1200" dirty="0" err="1"/>
              <a:t>medicinska</a:t>
            </a:r>
            <a:r>
              <a:rPr lang="en-US" sz="1200" dirty="0"/>
              <a:t> </a:t>
            </a:r>
            <a:r>
              <a:rPr lang="en-US" sz="1200" dirty="0" err="1"/>
              <a:t>mera</a:t>
            </a:r>
            <a:r>
              <a:rPr lang="sr-Latn-RS" sz="1200" dirty="0"/>
              <a:t>, </a:t>
            </a:r>
            <a:r>
              <a:rPr lang="en-US" sz="1200" dirty="0" err="1"/>
              <a:t>podatak</a:t>
            </a:r>
            <a:r>
              <a:rPr lang="en-US" sz="1200" dirty="0"/>
              <a:t> da li je </a:t>
            </a:r>
            <a:r>
              <a:rPr lang="en-US" sz="1200" dirty="0" err="1"/>
              <a:t>holesterol</a:t>
            </a:r>
            <a:r>
              <a:rPr lang="en-US" sz="1200" dirty="0"/>
              <a:t> </a:t>
            </a:r>
            <a:r>
              <a:rPr lang="en-US" sz="1200" dirty="0" err="1"/>
              <a:t>uopšte</a:t>
            </a:r>
            <a:r>
              <a:rPr lang="en-US" sz="1200" dirty="0"/>
              <a:t> </a:t>
            </a:r>
            <a:r>
              <a:rPr lang="en-US" sz="1200" dirty="0" err="1"/>
              <a:t>izmeren</a:t>
            </a:r>
            <a:r>
              <a:rPr lang="en-US" sz="1200" dirty="0"/>
              <a:t> </a:t>
            </a:r>
            <a:r>
              <a:rPr lang="en-US" sz="1200" dirty="0" err="1"/>
              <a:t>nosi</a:t>
            </a:r>
            <a:r>
              <a:rPr lang="en-US" sz="1200" dirty="0"/>
              <a:t> </a:t>
            </a:r>
            <a:r>
              <a:rPr lang="en-US" sz="1200" dirty="0" err="1"/>
              <a:t>jaču</a:t>
            </a:r>
            <a:r>
              <a:rPr lang="en-US" sz="1200" dirty="0"/>
              <a:t> </a:t>
            </a:r>
            <a:r>
              <a:rPr lang="en-US" sz="1200" dirty="0" err="1"/>
              <a:t>vezu</a:t>
            </a:r>
            <a:r>
              <a:rPr lang="en-US" sz="1200" dirty="0"/>
              <a:t> </a:t>
            </a:r>
            <a:r>
              <a:rPr lang="en-US" sz="1200" dirty="0" err="1"/>
              <a:t>sa</a:t>
            </a:r>
            <a:r>
              <a:rPr lang="en-US" sz="1200" dirty="0"/>
              <a:t> </a:t>
            </a:r>
            <a:r>
              <a:rPr lang="en-US" sz="1200" dirty="0" err="1"/>
              <a:t>oboljenjem</a:t>
            </a:r>
            <a:r>
              <a:rPr lang="en-US" sz="1200" dirty="0"/>
              <a:t> </a:t>
            </a:r>
            <a:r>
              <a:rPr lang="en-US" sz="1200" dirty="0" err="1"/>
              <a:t>nego</a:t>
            </a:r>
            <a:r>
              <a:rPr lang="en-US" sz="1200" dirty="0"/>
              <a:t> sama </a:t>
            </a:r>
            <a:r>
              <a:rPr lang="en-US" sz="1200" dirty="0" err="1"/>
              <a:t>vrednost</a:t>
            </a:r>
            <a:r>
              <a:rPr lang="en-US" sz="1200" dirty="0"/>
              <a:t> </a:t>
            </a:r>
            <a:r>
              <a:rPr lang="en-US" sz="1200" dirty="0" err="1"/>
              <a:t>holesterola</a:t>
            </a:r>
            <a:r>
              <a:rPr lang="en-US" sz="1200" dirty="0"/>
              <a:t>.</a:t>
            </a:r>
            <a:endParaRPr lang="sr-Latn-RS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Modeli</a:t>
            </a:r>
            <a:r>
              <a:rPr lang="en-US" sz="1200" dirty="0"/>
              <a:t> se </a:t>
            </a:r>
            <a:r>
              <a:rPr lang="en-US" sz="1200" dirty="0" err="1"/>
              <a:t>oslanjaju</a:t>
            </a:r>
            <a:r>
              <a:rPr lang="en-US" sz="1200" dirty="0"/>
              <a:t> </a:t>
            </a:r>
            <a:r>
              <a:rPr lang="en-US" sz="1200" dirty="0" err="1"/>
              <a:t>na</a:t>
            </a:r>
            <a:r>
              <a:rPr lang="en-US" sz="1200" dirty="0"/>
              <a:t> </a:t>
            </a:r>
            <a:r>
              <a:rPr lang="en-US" sz="1200" dirty="0" err="1"/>
              <a:t>klinički</a:t>
            </a:r>
            <a:r>
              <a:rPr lang="en-US" sz="1200" dirty="0"/>
              <a:t> </a:t>
            </a:r>
            <a:r>
              <a:rPr lang="en-US" sz="1200" dirty="0" err="1"/>
              <a:t>smislene</a:t>
            </a:r>
            <a:r>
              <a:rPr lang="en-US" sz="1200" dirty="0"/>
              <a:t> </a:t>
            </a:r>
            <a:r>
              <a:rPr lang="en-US" sz="1200" dirty="0" err="1"/>
              <a:t>atribute</a:t>
            </a:r>
            <a:r>
              <a:rPr lang="en-US" sz="1200" dirty="0"/>
              <a:t>, pre </a:t>
            </a:r>
            <a:r>
              <a:rPr lang="en-US" sz="1200" dirty="0" err="1"/>
              <a:t>svega</a:t>
            </a:r>
            <a:r>
              <a:rPr lang="en-US" sz="1200" dirty="0"/>
              <a:t> </a:t>
            </a:r>
            <a:r>
              <a:rPr lang="en-US" sz="1200" dirty="0" err="1"/>
              <a:t>na</a:t>
            </a:r>
            <a:r>
              <a:rPr lang="en-US" sz="1200" dirty="0"/>
              <a:t> </a:t>
            </a:r>
            <a:r>
              <a:rPr lang="en-US" sz="1200" dirty="0" err="1"/>
              <a:t>nagib</a:t>
            </a:r>
            <a:r>
              <a:rPr lang="en-US" sz="1200" dirty="0"/>
              <a:t> ST </a:t>
            </a:r>
            <a:r>
              <a:rPr lang="en-US" sz="1200" dirty="0" err="1"/>
              <a:t>segmenta</a:t>
            </a:r>
            <a:r>
              <a:rPr lang="en-US" sz="1200" dirty="0"/>
              <a:t>, </a:t>
            </a:r>
            <a:r>
              <a:rPr lang="en-US" sz="1200" dirty="0" err="1"/>
              <a:t>što</a:t>
            </a:r>
            <a:r>
              <a:rPr lang="en-US" sz="1200" dirty="0"/>
              <a:t> </a:t>
            </a:r>
            <a:r>
              <a:rPr lang="en-US" sz="1200" dirty="0" err="1"/>
              <a:t>potvrđuje</a:t>
            </a:r>
            <a:r>
              <a:rPr lang="en-US" sz="1200" dirty="0"/>
              <a:t> </a:t>
            </a:r>
            <a:r>
              <a:rPr lang="en-US" sz="1200" dirty="0" err="1"/>
              <a:t>i</a:t>
            </a:r>
            <a:r>
              <a:rPr lang="en-US" sz="1200" dirty="0"/>
              <a:t> </a:t>
            </a:r>
            <a:r>
              <a:rPr lang="en-US" sz="1200" dirty="0" err="1"/>
              <a:t>ranija</a:t>
            </a:r>
            <a:r>
              <a:rPr lang="en-US" sz="1200" dirty="0"/>
              <a:t> </a:t>
            </a:r>
            <a:r>
              <a:rPr lang="en-US" sz="1200" dirty="0" err="1"/>
              <a:t>analiza</a:t>
            </a:r>
            <a:r>
              <a:rPr lang="en-US" sz="1200" dirty="0"/>
              <a:t> </a:t>
            </a:r>
            <a:r>
              <a:rPr lang="en-US" sz="1200" dirty="0" err="1"/>
              <a:t>korelacija</a:t>
            </a:r>
            <a:r>
              <a:rPr lang="en-US" sz="1200" dirty="0"/>
              <a:t>.</a:t>
            </a:r>
          </a:p>
        </p:txBody>
      </p:sp>
      <p:sp>
        <p:nvSpPr>
          <p:cNvPr id="447" name="TextBox 448"/>
          <p:cNvSpPr txBox="1"/>
          <p:nvPr/>
        </p:nvSpPr>
        <p:spPr>
          <a:xfrm>
            <a:off x="7498080" y="2050681"/>
            <a:ext cx="414223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b="1" dirty="0">
                <a:solidFill>
                  <a:srgbClr val="16283F"/>
                </a:solidFill>
                <a:latin typeface="Calibri"/>
                <a:cs typeface="Calibri"/>
              </a:rPr>
              <a:t>Najbolji modeli na test skupu</a:t>
            </a:r>
          </a:p>
        </p:txBody>
      </p:sp>
      <p:graphicFrame>
        <p:nvGraphicFramePr>
          <p:cNvPr id="449" name="Tabela 4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940729"/>
              </p:ext>
            </p:extLst>
          </p:nvPr>
        </p:nvGraphicFramePr>
        <p:xfrm>
          <a:off x="7498080" y="2331720"/>
          <a:ext cx="4142232" cy="1097280"/>
        </p:xfrm>
        <a:graphic>
          <a:graphicData uri="http://schemas.openxmlformats.org/drawingml/2006/table">
            <a:tbl>
              <a:tblPr/>
              <a:tblGrid>
                <a:gridCol w="2313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model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F1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AUC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1628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Neuronska mreža (sa)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0,890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0,946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SVM (RBF) (sa)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0,886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0,939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b="1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AdaBoost (sa)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0,883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r-Latn-RS" sz="1200" dirty="0">
                          <a:solidFill>
                            <a:srgbClr val="26333F"/>
                          </a:solidFill>
                          <a:latin typeface="Calibri"/>
                          <a:cs typeface="Calibri"/>
                        </a:rPr>
                        <a:t>0,944</a:t>
                      </a:r>
                    </a:p>
                  </a:txBody>
                  <a:tcPr marL="68580" marR="68580" marT="36000" marB="360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8DEE6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55" name="TextBox 556"/>
          <p:cNvSpPr txBox="1"/>
          <p:nvPr/>
        </p:nvSpPr>
        <p:spPr>
          <a:xfrm>
            <a:off x="10515600" y="6400800"/>
            <a:ext cx="112471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dirty="0">
                <a:solidFill>
                  <a:srgbClr val="667585"/>
                </a:solidFill>
                <a:latin typeface="Calibri"/>
                <a:cs typeface="Calibri"/>
              </a:rPr>
              <a:t>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Rect 468"/>
          <p:cNvSpPr/>
          <p:nvPr/>
        </p:nvSpPr>
        <p:spPr>
          <a:xfrm>
            <a:off x="0" y="0"/>
            <a:ext cx="12191970" cy="6858000"/>
          </a:xfrm>
          <a:prstGeom prst="rect">
            <a:avLst/>
          </a:prstGeom>
          <a:solidFill>
            <a:srgbClr val="16283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69" name="TextBox 470"/>
          <p:cNvSpPr txBox="1"/>
          <p:nvPr/>
        </p:nvSpPr>
        <p:spPr>
          <a:xfrm>
            <a:off x="548640" y="28803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2400" b="1" dirty="0">
                <a:solidFill>
                  <a:srgbClr val="FFFFFF"/>
                </a:solidFill>
                <a:latin typeface="Calibri"/>
                <a:cs typeface="Calibri"/>
              </a:rPr>
              <a:t>Hvala na pažnji!</a:t>
            </a:r>
          </a:p>
        </p:txBody>
      </p:sp>
      <p:sp>
        <p:nvSpPr>
          <p:cNvPr id="471" name="Rect 472"/>
          <p:cNvSpPr/>
          <p:nvPr/>
        </p:nvSpPr>
        <p:spPr>
          <a:xfrm>
            <a:off x="548640" y="3310128"/>
            <a:ext cx="1645920" cy="27432"/>
          </a:xfrm>
          <a:prstGeom prst="rect">
            <a:avLst/>
          </a:prstGeom>
          <a:solidFill>
            <a:srgbClr val="AD3B2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73" name="TextBox 474"/>
          <p:cNvSpPr txBox="1"/>
          <p:nvPr/>
        </p:nvSpPr>
        <p:spPr>
          <a:xfrm>
            <a:off x="548640" y="3474720"/>
            <a:ext cx="9144000" cy="5486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dirty="0">
                <a:solidFill>
                  <a:srgbClr val="D8DEE6"/>
                </a:solidFill>
                <a:latin typeface="Calibri"/>
                <a:cs typeface="Calibri"/>
              </a:rPr>
              <a:t>Teodora Danilović 4004/2025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r-Latn-RS" sz="1200" dirty="0">
                <a:solidFill>
                  <a:srgbClr val="D8DEE6"/>
                </a:solidFill>
                <a:latin typeface="Calibri"/>
                <a:cs typeface="Calibri"/>
              </a:rPr>
              <a:t>Nina Petković 4005/2025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dbrana">
  <a:themeElements>
    <a:clrScheme name="Odbrana">
      <a:dk1>
        <a:sysClr val="windowText" lastClr="000000"/>
      </a:dk1>
      <a:lt1>
        <a:sysClr val="window" lastClr="FFFFFF"/>
      </a:lt1>
      <a:dk2>
        <a:srgbClr val="16283F"/>
      </a:dk2>
      <a:lt2>
        <a:srgbClr val="EFEFEF"/>
      </a:lt2>
      <a:accent1>
        <a:srgbClr val="AD3B2E"/>
      </a:accent1>
      <a:accent2>
        <a:srgbClr val="4A4A4A"/>
      </a:accent2>
      <a:accent3>
        <a:srgbClr val="7F7F7F"/>
      </a:accent3>
      <a:accent4>
        <a:srgbClr val="BFBFBF"/>
      </a:accent4>
      <a:accent5>
        <a:srgbClr val="595959"/>
      </a:accent5>
      <a:accent6>
        <a:srgbClr val="2E2E2E"/>
      </a:accent6>
      <a:hlink>
        <a:srgbClr val="AD3B2E"/>
      </a:hlink>
      <a:folHlink>
        <a:srgbClr val="6B6B6B"/>
      </a:folHlink>
    </a:clrScheme>
    <a:fontScheme name="Odbrana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dbran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2886</Words>
  <Application>Microsoft Office PowerPoint</Application>
  <PresentationFormat>Widescreen</PresentationFormat>
  <Paragraphs>732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Arial</vt:lpstr>
      <vt:lpstr>Calibri</vt:lpstr>
      <vt:lpstr>Odbrana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Predikcija srčane slabosti primenom metoda mašinskog učenja</dc:title>
  <dc:creator>Teodora Danilović, Nina Petković</dc:creator>
  <cp:lastModifiedBy>Office</cp:lastModifiedBy>
  <cp:revision>36</cp:revision>
  <dcterms:modified xsi:type="dcterms:W3CDTF">2026-09-13T22:49:45Z</dcterms:modified>
</cp:coreProperties>
</file>